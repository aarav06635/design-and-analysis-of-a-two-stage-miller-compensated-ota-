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 id="2147483670" r:id="rId3"/>
  </p:sldMasterIdLst>
  <p:notesMasterIdLst>
    <p:notesMasterId r:id="rId19"/>
  </p:notesMasterIdLst>
  <p:sldIdLst>
    <p:sldId id="256" r:id="rId4"/>
    <p:sldId id="288" r:id="rId5"/>
    <p:sldId id="257" r:id="rId6"/>
    <p:sldId id="259" r:id="rId7"/>
    <p:sldId id="276" r:id="rId8"/>
    <p:sldId id="277" r:id="rId9"/>
    <p:sldId id="278" r:id="rId10"/>
    <p:sldId id="279" r:id="rId11"/>
    <p:sldId id="280" r:id="rId12"/>
    <p:sldId id="281" r:id="rId13"/>
    <p:sldId id="282" r:id="rId14"/>
    <p:sldId id="283" r:id="rId15"/>
    <p:sldId id="284" r:id="rId16"/>
    <p:sldId id="289" r:id="rId17"/>
    <p:sldId id="286" r:id="rId1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E5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C8136D-086A-42A4-96DC-D342B37BCB8B}" type="datetimeFigureOut">
              <a:rPr lang="en-US" smtClean="0"/>
              <a:t>4/7/2026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E8DB23-61D3-4543-942C-835AAED318BF}" type="slidenum">
              <a:rPr lang="en-US" smtClean="0"/>
              <a:t>‹#›</a:t>
            </a:fld>
            <a:endParaRPr lang="en-US"/>
          </a:p>
        </p:txBody>
      </p:sp>
    </p:spTree>
    <p:extLst>
      <p:ext uri="{BB962C8B-B14F-4D97-AF65-F5344CB8AC3E}">
        <p14:creationId xmlns:p14="http://schemas.microsoft.com/office/powerpoint/2010/main" val="3346257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E8DB23-61D3-4543-942C-835AAED318BF}" type="slidenum">
              <a:rPr lang="en-US" smtClean="0"/>
              <a:t>7</a:t>
            </a:fld>
            <a:endParaRPr lang="en-US"/>
          </a:p>
        </p:txBody>
      </p:sp>
    </p:spTree>
    <p:extLst>
      <p:ext uri="{BB962C8B-B14F-4D97-AF65-F5344CB8AC3E}">
        <p14:creationId xmlns:p14="http://schemas.microsoft.com/office/powerpoint/2010/main" val="2074358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E8DB23-61D3-4543-942C-835AAED318BF}" type="slidenum">
              <a:rPr lang="en-US" smtClean="0"/>
              <a:t>10</a:t>
            </a:fld>
            <a:endParaRPr lang="en-US"/>
          </a:p>
        </p:txBody>
      </p:sp>
    </p:spTree>
    <p:extLst>
      <p:ext uri="{BB962C8B-B14F-4D97-AF65-F5344CB8AC3E}">
        <p14:creationId xmlns:p14="http://schemas.microsoft.com/office/powerpoint/2010/main" val="28967398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slidesgo.com/" TargetMode="External"/><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hyperlink" Target="https://www.freepik.com/" TargetMode="Externa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blipFill rotWithShape="0">
          <a:blip r:embed="rId2"/>
          <a:stretch/>
        </a:blipFill>
        <a:effectLst/>
      </p:bgPr>
    </p:bg>
    <p:spTree>
      <p:nvGrpSpPr>
        <p:cNvPr id="1" name=""/>
        <p:cNvGrpSpPr/>
        <p:nvPr/>
      </p:nvGrpSpPr>
      <p:grpSpPr>
        <a:xfrm>
          <a:off x="0" y="0"/>
          <a:ext cx="0" cy="0"/>
          <a:chOff x="0" y="0"/>
          <a:chExt cx="0" cy="0"/>
        </a:xfrm>
      </p:grpSpPr>
      <p:sp>
        <p:nvSpPr>
          <p:cNvPr id="2" name="Google Shape;9;p2"/>
          <p:cNvSpPr/>
          <p:nvPr/>
        </p:nvSpPr>
        <p:spPr>
          <a:xfrm>
            <a:off x="336600" y="293400"/>
            <a:ext cx="8470440" cy="4556160"/>
          </a:xfrm>
          <a:prstGeom prst="roundRect">
            <a:avLst>
              <a:gd name="adj" fmla="val 2444"/>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3" name="Google Shape;10;p2"/>
          <p:cNvCxnSpPr/>
          <p:nvPr/>
        </p:nvCxnSpPr>
        <p:spPr>
          <a:xfrm>
            <a:off x="996120" y="4476240"/>
            <a:ext cx="7151760" cy="360"/>
          </a:xfrm>
          <a:prstGeom prst="straightConnector1">
            <a:avLst/>
          </a:prstGeom>
          <a:ln w="19050">
            <a:solidFill>
              <a:srgbClr val="000000"/>
            </a:solidFill>
            <a:round/>
            <a:headEnd type="oval" w="med" len="med"/>
            <a:tailEnd type="oval" w="med" len="med"/>
          </a:ln>
        </p:spPr>
      </p:cxnSp>
      <p:grpSp>
        <p:nvGrpSpPr>
          <p:cNvPr id="4" name="Google Shape;11;p2"/>
          <p:cNvGrpSpPr/>
          <p:nvPr/>
        </p:nvGrpSpPr>
        <p:grpSpPr>
          <a:xfrm>
            <a:off x="6557400" y="4683600"/>
            <a:ext cx="327600" cy="306000"/>
            <a:chOff x="6557400" y="4683600"/>
            <a:chExt cx="327600" cy="306000"/>
          </a:xfrm>
        </p:grpSpPr>
        <p:sp>
          <p:nvSpPr>
            <p:cNvPr id="5" name="Google Shape;12;p2"/>
            <p:cNvSpPr/>
            <p:nvPr/>
          </p:nvSpPr>
          <p:spPr>
            <a:xfrm>
              <a:off x="6579000" y="4683600"/>
              <a:ext cx="306000" cy="30600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 name="Google Shape;13;p2"/>
            <p:cNvSpPr/>
            <p:nvPr/>
          </p:nvSpPr>
          <p:spPr>
            <a:xfrm>
              <a:off x="6557400" y="4683600"/>
              <a:ext cx="306000" cy="3060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 name="Google Shape;14;p2"/>
            <p:cNvSpPr/>
            <p:nvPr/>
          </p:nvSpPr>
          <p:spPr>
            <a:xfrm>
              <a:off x="6579000" y="4683600"/>
              <a:ext cx="306000" cy="30600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 name="Google Shape;15;p2"/>
          <p:cNvGrpSpPr/>
          <p:nvPr/>
        </p:nvGrpSpPr>
        <p:grpSpPr>
          <a:xfrm>
            <a:off x="7456680" y="153720"/>
            <a:ext cx="288000" cy="255960"/>
            <a:chOff x="7456680" y="153720"/>
            <a:chExt cx="288000" cy="255960"/>
          </a:xfrm>
        </p:grpSpPr>
        <p:sp>
          <p:nvSpPr>
            <p:cNvPr id="9" name="Google Shape;16;p2"/>
            <p:cNvSpPr/>
            <p:nvPr/>
          </p:nvSpPr>
          <p:spPr>
            <a:xfrm>
              <a:off x="7456680" y="153720"/>
              <a:ext cx="255960" cy="25596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 name="Google Shape;17;p2"/>
            <p:cNvGrpSpPr/>
            <p:nvPr/>
          </p:nvGrpSpPr>
          <p:grpSpPr>
            <a:xfrm>
              <a:off x="7456680" y="153720"/>
              <a:ext cx="288000" cy="255960"/>
              <a:chOff x="7456680" y="153720"/>
              <a:chExt cx="288000" cy="255960"/>
            </a:xfrm>
          </p:grpSpPr>
          <p:sp>
            <p:nvSpPr>
              <p:cNvPr id="11" name="Google Shape;18;p2"/>
              <p:cNvSpPr/>
              <p:nvPr/>
            </p:nvSpPr>
            <p:spPr>
              <a:xfrm>
                <a:off x="7488720" y="153720"/>
                <a:ext cx="255960" cy="2559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 name="Google Shape;19;p2"/>
              <p:cNvSpPr/>
              <p:nvPr/>
            </p:nvSpPr>
            <p:spPr>
              <a:xfrm>
                <a:off x="7456680" y="153720"/>
                <a:ext cx="255960" cy="25596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3" name="Google Shape;20;p2"/>
          <p:cNvGrpSpPr/>
          <p:nvPr/>
        </p:nvGrpSpPr>
        <p:grpSpPr>
          <a:xfrm>
            <a:off x="135720" y="1565280"/>
            <a:ext cx="410400" cy="394200"/>
            <a:chOff x="135720" y="1565280"/>
            <a:chExt cx="410400" cy="394200"/>
          </a:xfrm>
        </p:grpSpPr>
        <p:sp>
          <p:nvSpPr>
            <p:cNvPr id="14" name="Google Shape;21;p2"/>
            <p:cNvSpPr/>
            <p:nvPr/>
          </p:nvSpPr>
          <p:spPr>
            <a:xfrm>
              <a:off x="135720" y="1575360"/>
              <a:ext cx="384120" cy="38412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5" name="Google Shape;22;p2"/>
            <p:cNvGrpSpPr/>
            <p:nvPr/>
          </p:nvGrpSpPr>
          <p:grpSpPr>
            <a:xfrm>
              <a:off x="135720" y="1565280"/>
              <a:ext cx="410400" cy="394200"/>
              <a:chOff x="135720" y="1565280"/>
              <a:chExt cx="410400" cy="394200"/>
            </a:xfrm>
          </p:grpSpPr>
          <p:sp>
            <p:nvSpPr>
              <p:cNvPr id="16" name="Google Shape;23;p2"/>
              <p:cNvSpPr/>
              <p:nvPr/>
            </p:nvSpPr>
            <p:spPr>
              <a:xfrm>
                <a:off x="162000" y="1565280"/>
                <a:ext cx="384120" cy="38412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 name="Google Shape;24;p2"/>
              <p:cNvSpPr/>
              <p:nvPr/>
            </p:nvSpPr>
            <p:spPr>
              <a:xfrm>
                <a:off x="135720" y="1575360"/>
                <a:ext cx="384120" cy="38412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8" name="PlaceHolder 1"/>
          <p:cNvSpPr>
            <a:spLocks noGrp="1"/>
          </p:cNvSpPr>
          <p:nvPr>
            <p:ph type="title"/>
          </p:nvPr>
        </p:nvSpPr>
        <p:spPr>
          <a:xfrm>
            <a:off x="815400" y="1636560"/>
            <a:ext cx="7512840" cy="127224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
        <p:nvSpPr>
          <p:cNvPr id="19"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blipFill rotWithShape="0">
          <a:blip r:embed="rId2"/>
          <a:stretch/>
        </a:blipFill>
        <a:effectLst/>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1253880" y="1678680"/>
            <a:ext cx="6635880" cy="1328400"/>
          </a:xfrm>
          <a:prstGeom prst="rect">
            <a:avLst/>
          </a:prstGeom>
          <a:noFill/>
          <a:ln w="0">
            <a:noFill/>
          </a:ln>
        </p:spPr>
        <p:txBody>
          <a:bodyPr lIns="91440" tIns="91440" rIns="91440" bIns="91440" anchor="t">
            <a:noAutofit/>
          </a:bodyPr>
          <a:lstStyle/>
          <a:p>
            <a:pPr indent="0" algn="ctr">
              <a:lnSpc>
                <a:spcPct val="100000"/>
              </a:lnSpc>
              <a:buNone/>
            </a:pPr>
            <a:r>
              <a:rPr lang="fr-FR" sz="7200" b="0" u="none" strike="noStrike">
                <a:solidFill>
                  <a:schemeClr val="dk1"/>
                </a:solidFill>
                <a:effectLst/>
                <a:uFillTx/>
                <a:latin typeface="Arapey"/>
                <a:ea typeface="Arapey"/>
              </a:rPr>
              <a:t>xx%</a:t>
            </a:r>
            <a:endParaRPr lang="fr-FR" sz="7200" b="0" u="none" strike="noStrike">
              <a:solidFill>
                <a:schemeClr val="dk1"/>
              </a:solidFill>
              <a:effectLst/>
              <a:uFillTx/>
              <a:latin typeface="Arial"/>
            </a:endParaRPr>
          </a:p>
        </p:txBody>
      </p:sp>
      <p:sp>
        <p:nvSpPr>
          <p:cNvPr id="21" name="PlaceHolder 2"/>
          <p:cNvSpPr>
            <a:spLocks noGrp="1"/>
          </p:cNvSpPr>
          <p:nvPr>
            <p:ph type="body"/>
          </p:nvPr>
        </p:nvSpPr>
        <p:spPr>
          <a:xfrm>
            <a:off x="1542600" y="3023280"/>
            <a:ext cx="6058080" cy="53028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Seventh Outline Level</a:t>
            </a:r>
          </a:p>
        </p:txBody>
      </p:sp>
      <p:sp>
        <p:nvSpPr>
          <p:cNvPr id="22" name="Google Shape;90;p11"/>
          <p:cNvSpPr/>
          <p:nvPr/>
        </p:nvSpPr>
        <p:spPr>
          <a:xfrm>
            <a:off x="336600" y="293400"/>
            <a:ext cx="8470440" cy="4556160"/>
          </a:xfrm>
          <a:prstGeom prst="roundRect">
            <a:avLst>
              <a:gd name="adj" fmla="val 2444"/>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3" name="Google Shape;91;p11"/>
          <p:cNvGrpSpPr/>
          <p:nvPr/>
        </p:nvGrpSpPr>
        <p:grpSpPr>
          <a:xfrm>
            <a:off x="7890120" y="4572000"/>
            <a:ext cx="600840" cy="561600"/>
            <a:chOff x="7890120" y="4572000"/>
            <a:chExt cx="600840" cy="561600"/>
          </a:xfrm>
        </p:grpSpPr>
        <p:sp>
          <p:nvSpPr>
            <p:cNvPr id="24" name="Google Shape;92;p11"/>
            <p:cNvSpPr/>
            <p:nvPr/>
          </p:nvSpPr>
          <p:spPr>
            <a:xfrm>
              <a:off x="7929360" y="4572000"/>
              <a:ext cx="561600" cy="56160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 name="Google Shape;93;p11"/>
            <p:cNvSpPr/>
            <p:nvPr/>
          </p:nvSpPr>
          <p:spPr>
            <a:xfrm>
              <a:off x="7890120" y="4572000"/>
              <a:ext cx="561600" cy="5616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 name="Google Shape;94;p11"/>
            <p:cNvSpPr/>
            <p:nvPr/>
          </p:nvSpPr>
          <p:spPr>
            <a:xfrm>
              <a:off x="7929360" y="4572000"/>
              <a:ext cx="561600" cy="56160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7" name="Google Shape;95;p11"/>
          <p:cNvGrpSpPr/>
          <p:nvPr/>
        </p:nvGrpSpPr>
        <p:grpSpPr>
          <a:xfrm>
            <a:off x="652680" y="0"/>
            <a:ext cx="600840" cy="588240"/>
            <a:chOff x="652680" y="0"/>
            <a:chExt cx="600840" cy="588240"/>
          </a:xfrm>
        </p:grpSpPr>
        <p:sp>
          <p:nvSpPr>
            <p:cNvPr id="28" name="Google Shape;96;p11"/>
            <p:cNvSpPr/>
            <p:nvPr/>
          </p:nvSpPr>
          <p:spPr>
            <a:xfrm>
              <a:off x="652680" y="17280"/>
              <a:ext cx="570960" cy="57096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9" name="Google Shape;97;p11"/>
            <p:cNvGrpSpPr/>
            <p:nvPr/>
          </p:nvGrpSpPr>
          <p:grpSpPr>
            <a:xfrm>
              <a:off x="652680" y="0"/>
              <a:ext cx="600840" cy="588240"/>
              <a:chOff x="652680" y="0"/>
              <a:chExt cx="600840" cy="588240"/>
            </a:xfrm>
          </p:grpSpPr>
          <p:sp>
            <p:nvSpPr>
              <p:cNvPr id="30" name="Google Shape;98;p11"/>
              <p:cNvSpPr/>
              <p:nvPr/>
            </p:nvSpPr>
            <p:spPr>
              <a:xfrm>
                <a:off x="682560" y="0"/>
                <a:ext cx="570960" cy="570960"/>
              </a:xfrm>
              <a:prstGeom prst="ellipse">
                <a:avLst/>
              </a:pr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 name="Google Shape;99;p11"/>
              <p:cNvSpPr/>
              <p:nvPr/>
            </p:nvSpPr>
            <p:spPr>
              <a:xfrm>
                <a:off x="652680" y="17280"/>
                <a:ext cx="570960" cy="57096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2" name="Google Shape;100;p11"/>
          <p:cNvGrpSpPr/>
          <p:nvPr/>
        </p:nvGrpSpPr>
        <p:grpSpPr>
          <a:xfrm>
            <a:off x="7539480" y="4725000"/>
            <a:ext cx="288000" cy="255960"/>
            <a:chOff x="7539480" y="4725000"/>
            <a:chExt cx="288000" cy="255960"/>
          </a:xfrm>
        </p:grpSpPr>
        <p:sp>
          <p:nvSpPr>
            <p:cNvPr id="33" name="Google Shape;101;p11"/>
            <p:cNvSpPr/>
            <p:nvPr/>
          </p:nvSpPr>
          <p:spPr>
            <a:xfrm>
              <a:off x="7539480" y="4725000"/>
              <a:ext cx="255960" cy="25596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4" name="Google Shape;102;p11"/>
            <p:cNvGrpSpPr/>
            <p:nvPr/>
          </p:nvGrpSpPr>
          <p:grpSpPr>
            <a:xfrm>
              <a:off x="7539480" y="4725000"/>
              <a:ext cx="288000" cy="255960"/>
              <a:chOff x="7539480" y="4725000"/>
              <a:chExt cx="288000" cy="255960"/>
            </a:xfrm>
          </p:grpSpPr>
          <p:sp>
            <p:nvSpPr>
              <p:cNvPr id="35" name="Google Shape;103;p11"/>
              <p:cNvSpPr/>
              <p:nvPr/>
            </p:nvSpPr>
            <p:spPr>
              <a:xfrm>
                <a:off x="7571520" y="4725000"/>
                <a:ext cx="255960" cy="2559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 name="Google Shape;104;p11"/>
              <p:cNvSpPr/>
              <p:nvPr/>
            </p:nvSpPr>
            <p:spPr>
              <a:xfrm>
                <a:off x="7539480" y="4725000"/>
                <a:ext cx="255960" cy="25596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7" name="Google Shape;106;p12"/>
          <p:cNvSpPr/>
          <p:nvPr/>
        </p:nvSpPr>
        <p:spPr>
          <a:xfrm rot="1356600" flipH="1">
            <a:off x="7358400" y="-103320"/>
            <a:ext cx="11160" cy="34200"/>
          </a:xfrm>
          <a:custGeom>
            <a:avLst/>
            <a:gdLst>
              <a:gd name="textAreaLeft" fmla="*/ -360 w 11160"/>
              <a:gd name="textAreaRight" fmla="*/ 11160 w 11160"/>
              <a:gd name="textAreaTop" fmla="*/ 0 h 34200"/>
              <a:gd name="textAreaBottom" fmla="*/ 34560 h 34200"/>
            </a:gdLst>
            <a:ahLst/>
            <a:cxnLst/>
            <a:rect l="textAreaLeft" t="textAreaTop" r="textAreaRight" b="textAreaBottom"/>
            <a:pathLst>
              <a:path w="368" h="1093">
                <a:moveTo>
                  <a:pt x="334" y="0"/>
                </a:moveTo>
                <a:cubicBezTo>
                  <a:pt x="368" y="200"/>
                  <a:pt x="334" y="367"/>
                  <a:pt x="301" y="567"/>
                </a:cubicBezTo>
                <a:cubicBezTo>
                  <a:pt x="268" y="734"/>
                  <a:pt x="168" y="901"/>
                  <a:pt x="34" y="1034"/>
                </a:cubicBezTo>
                <a:cubicBezTo>
                  <a:pt x="1" y="1034"/>
                  <a:pt x="1" y="1067"/>
                  <a:pt x="34" y="1067"/>
                </a:cubicBezTo>
                <a:cubicBezTo>
                  <a:pt x="34" y="1084"/>
                  <a:pt x="34" y="1092"/>
                  <a:pt x="38" y="1092"/>
                </a:cubicBezTo>
                <a:cubicBezTo>
                  <a:pt x="43" y="1092"/>
                  <a:pt x="51" y="1084"/>
                  <a:pt x="68" y="1067"/>
                </a:cubicBezTo>
                <a:cubicBezTo>
                  <a:pt x="201" y="934"/>
                  <a:pt x="301" y="767"/>
                  <a:pt x="334" y="567"/>
                </a:cubicBezTo>
                <a:cubicBezTo>
                  <a:pt x="368" y="367"/>
                  <a:pt x="368" y="200"/>
                  <a:pt x="334" y="0"/>
                </a:cubicBezTo>
                <a:close/>
              </a:path>
            </a:pathLst>
          </a:custGeom>
          <a:solidFill>
            <a:srgbClr val="116752"/>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 name="Google Shape;107;p12"/>
          <p:cNvSpPr/>
          <p:nvPr/>
        </p:nvSpPr>
        <p:spPr>
          <a:xfrm>
            <a:off x="6745320" y="5203800"/>
            <a:ext cx="488880" cy="53640"/>
          </a:xfrm>
          <a:custGeom>
            <a:avLst/>
            <a:gdLst>
              <a:gd name="textAreaLeft" fmla="*/ 0 w 488880"/>
              <a:gd name="textAreaRight" fmla="*/ 489240 w 488880"/>
              <a:gd name="textAreaTop" fmla="*/ 0 h 53640"/>
              <a:gd name="textAreaBottom" fmla="*/ 54000 h 53640"/>
            </a:gdLst>
            <a:ahLst/>
            <a:cxnLst/>
            <a:rect l="textAreaLeft" t="textAreaTop" r="textAreaRight" b="textAreaBottom"/>
            <a:pathLst>
              <a:path w="16446" h="2069">
                <a:moveTo>
                  <a:pt x="0" y="0"/>
                </a:moveTo>
                <a:lnTo>
                  <a:pt x="0" y="2069"/>
                </a:lnTo>
                <a:lnTo>
                  <a:pt x="16445" y="2069"/>
                </a:lnTo>
                <a:lnTo>
                  <a:pt x="16445"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19_1">
    <p:bg>
      <p:bgPr>
        <a:blipFill rotWithShape="0">
          <a:blip r:embed="rId2"/>
          <a:stretch/>
        </a:blipFill>
        <a:effectLst/>
      </p:bgPr>
    </p:bg>
    <p:spTree>
      <p:nvGrpSpPr>
        <p:cNvPr id="1" name=""/>
        <p:cNvGrpSpPr/>
        <p:nvPr/>
      </p:nvGrpSpPr>
      <p:grpSpPr>
        <a:xfrm>
          <a:off x="0" y="0"/>
          <a:ext cx="0" cy="0"/>
          <a:chOff x="0" y="0"/>
          <a:chExt cx="0" cy="0"/>
        </a:xfrm>
      </p:grpSpPr>
      <p:sp>
        <p:nvSpPr>
          <p:cNvPr id="39" name="Google Shape;109;p13"/>
          <p:cNvSpPr/>
          <p:nvPr/>
        </p:nvSpPr>
        <p:spPr>
          <a:xfrm>
            <a:off x="336600" y="293400"/>
            <a:ext cx="8470440" cy="4556160"/>
          </a:xfrm>
          <a:prstGeom prst="roundRect">
            <a:avLst>
              <a:gd name="adj" fmla="val 2444"/>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 name="PlaceHolder 1"/>
          <p:cNvSpPr>
            <a:spLocks noGrp="1"/>
          </p:cNvSpPr>
          <p:nvPr>
            <p:ph type="title"/>
          </p:nvPr>
        </p:nvSpPr>
        <p:spPr>
          <a:xfrm>
            <a:off x="1036080" y="1662480"/>
            <a:ext cx="878760" cy="549360"/>
          </a:xfrm>
          <a:prstGeom prst="rect">
            <a:avLst/>
          </a:prstGeom>
          <a:noFill/>
          <a:ln w="0">
            <a:noFill/>
          </a:ln>
        </p:spPr>
        <p:txBody>
          <a:bodyPr lIns="91440" tIns="91440" rIns="91440" bIns="91440" anchor="ctr">
            <a:noAutofit/>
          </a:bodyPr>
          <a:lstStyle/>
          <a:p>
            <a:pPr indent="0" algn="ctr">
              <a:lnSpc>
                <a:spcPct val="100000"/>
              </a:lnSpc>
              <a:buNone/>
            </a:pPr>
            <a:r>
              <a:rPr lang="fr-FR" sz="2500" b="0" u="none" strike="noStrike">
                <a:solidFill>
                  <a:schemeClr val="dk1"/>
                </a:solidFill>
                <a:effectLst/>
                <a:uFillTx/>
                <a:latin typeface="Arapey"/>
                <a:ea typeface="Arapey"/>
              </a:rPr>
              <a:t>xx%</a:t>
            </a:r>
            <a:endParaRPr lang="fr-FR" sz="2500" b="0" u="none" strike="noStrike">
              <a:solidFill>
                <a:schemeClr val="dk1"/>
              </a:solidFill>
              <a:effectLst/>
              <a:uFillTx/>
              <a:latin typeface="Arial"/>
            </a:endParaRPr>
          </a:p>
        </p:txBody>
      </p:sp>
      <p:sp>
        <p:nvSpPr>
          <p:cNvPr id="41" name="PlaceHolder 2"/>
          <p:cNvSpPr>
            <a:spLocks noGrp="1"/>
          </p:cNvSpPr>
          <p:nvPr>
            <p:ph type="title"/>
          </p:nvPr>
        </p:nvSpPr>
        <p:spPr>
          <a:xfrm>
            <a:off x="1036080" y="3222360"/>
            <a:ext cx="878760" cy="525960"/>
          </a:xfrm>
          <a:prstGeom prst="rect">
            <a:avLst/>
          </a:prstGeom>
          <a:noFill/>
          <a:ln w="0">
            <a:noFill/>
          </a:ln>
        </p:spPr>
        <p:txBody>
          <a:bodyPr lIns="91440" tIns="91440" rIns="91440" bIns="91440" anchor="ctr">
            <a:noAutofit/>
          </a:bodyPr>
          <a:lstStyle/>
          <a:p>
            <a:pPr indent="0" algn="ctr">
              <a:lnSpc>
                <a:spcPct val="100000"/>
              </a:lnSpc>
              <a:buNone/>
            </a:pPr>
            <a:r>
              <a:rPr lang="fr-FR" sz="2500" b="0" u="none" strike="noStrike">
                <a:solidFill>
                  <a:schemeClr val="dk1"/>
                </a:solidFill>
                <a:effectLst/>
                <a:uFillTx/>
                <a:latin typeface="Arapey"/>
                <a:ea typeface="Arapey"/>
              </a:rPr>
              <a:t>xx%</a:t>
            </a:r>
            <a:endParaRPr lang="fr-FR" sz="2500" b="0" u="none" strike="noStrike">
              <a:solidFill>
                <a:schemeClr val="dk1"/>
              </a:solidFill>
              <a:effectLst/>
              <a:uFillTx/>
              <a:latin typeface="Arial"/>
            </a:endParaRPr>
          </a:p>
        </p:txBody>
      </p:sp>
      <p:sp>
        <p:nvSpPr>
          <p:cNvPr id="42" name="PlaceHolder 3"/>
          <p:cNvSpPr>
            <a:spLocks noGrp="1"/>
          </p:cNvSpPr>
          <p:nvPr>
            <p:ph type="title"/>
          </p:nvPr>
        </p:nvSpPr>
        <p:spPr>
          <a:xfrm>
            <a:off x="4601880" y="1674360"/>
            <a:ext cx="878760" cy="525960"/>
          </a:xfrm>
          <a:prstGeom prst="rect">
            <a:avLst/>
          </a:prstGeom>
          <a:noFill/>
          <a:ln w="0">
            <a:noFill/>
          </a:ln>
        </p:spPr>
        <p:txBody>
          <a:bodyPr lIns="91440" tIns="91440" rIns="91440" bIns="91440" anchor="ctr">
            <a:noAutofit/>
          </a:bodyPr>
          <a:lstStyle/>
          <a:p>
            <a:pPr indent="0" algn="ctr">
              <a:lnSpc>
                <a:spcPct val="100000"/>
              </a:lnSpc>
              <a:buNone/>
            </a:pPr>
            <a:r>
              <a:rPr lang="fr-FR" sz="2500" b="0" u="none" strike="noStrike">
                <a:solidFill>
                  <a:schemeClr val="dk1"/>
                </a:solidFill>
                <a:effectLst/>
                <a:uFillTx/>
                <a:latin typeface="Arapey"/>
                <a:ea typeface="Arapey"/>
              </a:rPr>
              <a:t>xx%</a:t>
            </a:r>
            <a:endParaRPr lang="fr-FR" sz="2500" b="0" u="none" strike="noStrike">
              <a:solidFill>
                <a:schemeClr val="dk1"/>
              </a:solidFill>
              <a:effectLst/>
              <a:uFillTx/>
              <a:latin typeface="Arial"/>
            </a:endParaRPr>
          </a:p>
        </p:txBody>
      </p:sp>
      <p:sp>
        <p:nvSpPr>
          <p:cNvPr id="43" name="PlaceHolder 4"/>
          <p:cNvSpPr>
            <a:spLocks noGrp="1"/>
          </p:cNvSpPr>
          <p:nvPr>
            <p:ph type="title"/>
          </p:nvPr>
        </p:nvSpPr>
        <p:spPr>
          <a:xfrm>
            <a:off x="4601880" y="3222360"/>
            <a:ext cx="878760" cy="525960"/>
          </a:xfrm>
          <a:prstGeom prst="rect">
            <a:avLst/>
          </a:prstGeom>
          <a:noFill/>
          <a:ln w="0">
            <a:noFill/>
          </a:ln>
        </p:spPr>
        <p:txBody>
          <a:bodyPr lIns="91440" tIns="91440" rIns="91440" bIns="91440" anchor="ctr">
            <a:noAutofit/>
          </a:bodyPr>
          <a:lstStyle/>
          <a:p>
            <a:pPr indent="0" algn="ctr">
              <a:lnSpc>
                <a:spcPct val="100000"/>
              </a:lnSpc>
              <a:buNone/>
            </a:pPr>
            <a:r>
              <a:rPr lang="fr-FR" sz="2500" b="0" u="none" strike="noStrike">
                <a:solidFill>
                  <a:schemeClr val="dk1"/>
                </a:solidFill>
                <a:effectLst/>
                <a:uFillTx/>
                <a:latin typeface="Arapey"/>
                <a:ea typeface="Arapey"/>
              </a:rPr>
              <a:t>xx%</a:t>
            </a:r>
            <a:endParaRPr lang="fr-FR" sz="2500" b="0" u="none" strike="noStrike">
              <a:solidFill>
                <a:schemeClr val="dk1"/>
              </a:solidFill>
              <a:effectLst/>
              <a:uFillTx/>
              <a:latin typeface="Arial"/>
            </a:endParaRPr>
          </a:p>
        </p:txBody>
      </p:sp>
      <p:sp>
        <p:nvSpPr>
          <p:cNvPr id="44" name="Google Shape;122;p13"/>
          <p:cNvSpPr/>
          <p:nvPr/>
        </p:nvSpPr>
        <p:spPr>
          <a:xfrm rot="1356600" flipH="1">
            <a:off x="7358400" y="-103320"/>
            <a:ext cx="11160" cy="34200"/>
          </a:xfrm>
          <a:custGeom>
            <a:avLst/>
            <a:gdLst>
              <a:gd name="textAreaLeft" fmla="*/ -360 w 11160"/>
              <a:gd name="textAreaRight" fmla="*/ 11160 w 11160"/>
              <a:gd name="textAreaTop" fmla="*/ 0 h 34200"/>
              <a:gd name="textAreaBottom" fmla="*/ 34560 h 34200"/>
            </a:gdLst>
            <a:ahLst/>
            <a:cxnLst/>
            <a:rect l="textAreaLeft" t="textAreaTop" r="textAreaRight" b="textAreaBottom"/>
            <a:pathLst>
              <a:path w="368" h="1093">
                <a:moveTo>
                  <a:pt x="334" y="0"/>
                </a:moveTo>
                <a:cubicBezTo>
                  <a:pt x="368" y="200"/>
                  <a:pt x="334" y="367"/>
                  <a:pt x="301" y="567"/>
                </a:cubicBezTo>
                <a:cubicBezTo>
                  <a:pt x="268" y="734"/>
                  <a:pt x="168" y="901"/>
                  <a:pt x="34" y="1034"/>
                </a:cubicBezTo>
                <a:cubicBezTo>
                  <a:pt x="1" y="1034"/>
                  <a:pt x="1" y="1067"/>
                  <a:pt x="34" y="1067"/>
                </a:cubicBezTo>
                <a:cubicBezTo>
                  <a:pt x="34" y="1084"/>
                  <a:pt x="34" y="1092"/>
                  <a:pt x="38" y="1092"/>
                </a:cubicBezTo>
                <a:cubicBezTo>
                  <a:pt x="43" y="1092"/>
                  <a:pt x="51" y="1084"/>
                  <a:pt x="68" y="1067"/>
                </a:cubicBezTo>
                <a:cubicBezTo>
                  <a:pt x="201" y="934"/>
                  <a:pt x="301" y="767"/>
                  <a:pt x="334" y="567"/>
                </a:cubicBezTo>
                <a:cubicBezTo>
                  <a:pt x="368" y="367"/>
                  <a:pt x="368" y="200"/>
                  <a:pt x="334" y="0"/>
                </a:cubicBezTo>
                <a:close/>
              </a:path>
            </a:pathLst>
          </a:custGeom>
          <a:solidFill>
            <a:srgbClr val="116752"/>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 name="PlaceHolder 5"/>
          <p:cNvSpPr>
            <a:spLocks noGrp="1"/>
          </p:cNvSpPr>
          <p:nvPr>
            <p:ph type="title"/>
          </p:nvPr>
        </p:nvSpPr>
        <p:spPr>
          <a:xfrm>
            <a:off x="849600" y="420120"/>
            <a:ext cx="7444440" cy="646200"/>
          </a:xfrm>
          <a:prstGeom prst="rect">
            <a:avLst/>
          </a:prstGeom>
          <a:no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_TITLE_AND_DESCRIPTION_1">
    <p:bg>
      <p:bgPr>
        <a:blipFill rotWithShape="0">
          <a:blip r:embed="rId2"/>
          <a:stretch/>
        </a:blipFill>
        <a:effectLst/>
      </p:bgPr>
    </p:bg>
    <p:spTree>
      <p:nvGrpSpPr>
        <p:cNvPr id="1" name=""/>
        <p:cNvGrpSpPr/>
        <p:nvPr/>
      </p:nvGrpSpPr>
      <p:grpSpPr>
        <a:xfrm>
          <a:off x="0" y="0"/>
          <a:ext cx="0" cy="0"/>
          <a:chOff x="0" y="0"/>
          <a:chExt cx="0" cy="0"/>
        </a:xfrm>
      </p:grpSpPr>
      <p:sp>
        <p:nvSpPr>
          <p:cNvPr id="46" name="Google Shape;125;p14"/>
          <p:cNvSpPr/>
          <p:nvPr/>
        </p:nvSpPr>
        <p:spPr>
          <a:xfrm>
            <a:off x="336600" y="293400"/>
            <a:ext cx="8470440" cy="4556160"/>
          </a:xfrm>
          <a:prstGeom prst="roundRect">
            <a:avLst>
              <a:gd name="adj" fmla="val 2444"/>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PlaceHolder 1"/>
          <p:cNvSpPr>
            <a:spLocks noGrp="1"/>
          </p:cNvSpPr>
          <p:nvPr>
            <p:ph type="body"/>
          </p:nvPr>
        </p:nvSpPr>
        <p:spPr>
          <a:xfrm>
            <a:off x="705240" y="952200"/>
            <a:ext cx="3238920" cy="3238920"/>
          </a:xfrm>
          <a:prstGeom prst="rect">
            <a:avLst/>
          </a:prstGeom>
          <a:noFill/>
          <a:ln w="0">
            <a:noFill/>
          </a:ln>
        </p:spPr>
        <p:txBody>
          <a:bodyPr lIns="90000" tIns="45000" rIns="90000" bIns="45000" anchor="t">
            <a:normAutofit fontScale="5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48" name="PlaceHolder 2"/>
          <p:cNvSpPr>
            <a:spLocks noGrp="1"/>
          </p:cNvSpPr>
          <p:nvPr>
            <p:ph type="title"/>
          </p:nvPr>
        </p:nvSpPr>
        <p:spPr>
          <a:xfrm>
            <a:off x="4314240" y="793080"/>
            <a:ext cx="3656880" cy="1395720"/>
          </a:xfrm>
          <a:prstGeom prst="rect">
            <a:avLst/>
          </a:prstGeom>
          <a:noFill/>
          <a:ln w="0">
            <a:noFill/>
          </a:ln>
        </p:spPr>
        <p:txBody>
          <a:bodyPr lIns="91440" tIns="91440" rIns="91440" bIns="91440" anchor="b">
            <a:noAutofit/>
          </a:bodyPr>
          <a:lstStyle/>
          <a:p>
            <a:pPr indent="0">
              <a:buNone/>
            </a:pPr>
            <a:r>
              <a:rPr lang="fr-FR" sz="3400" b="0" u="none" strike="noStrike">
                <a:solidFill>
                  <a:schemeClr val="dk1"/>
                </a:solidFill>
                <a:effectLst/>
                <a:uFillTx/>
                <a:latin typeface="Arial"/>
              </a:rPr>
              <a:t>Click to edit the title text format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SECTION_TITLE_AND_DESCRIPTION_1_1">
    <p:bg>
      <p:bgPr>
        <a:blipFill rotWithShape="0">
          <a:blip r:embed="rId2"/>
          <a:stretch/>
        </a:blipFill>
        <a:effectLst/>
      </p:bgPr>
    </p:bg>
    <p:spTree>
      <p:nvGrpSpPr>
        <p:cNvPr id="1" name=""/>
        <p:cNvGrpSpPr/>
        <p:nvPr/>
      </p:nvGrpSpPr>
      <p:grpSpPr>
        <a:xfrm>
          <a:off x="0" y="0"/>
          <a:ext cx="0" cy="0"/>
          <a:chOff x="0" y="0"/>
          <a:chExt cx="0" cy="0"/>
        </a:xfrm>
      </p:grpSpPr>
      <p:sp>
        <p:nvSpPr>
          <p:cNvPr id="49" name="Google Shape;130;p15"/>
          <p:cNvSpPr/>
          <p:nvPr/>
        </p:nvSpPr>
        <p:spPr>
          <a:xfrm>
            <a:off x="336600" y="293400"/>
            <a:ext cx="8470440" cy="4556160"/>
          </a:xfrm>
          <a:prstGeom prst="roundRect">
            <a:avLst>
              <a:gd name="adj" fmla="val 2444"/>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 name="PlaceHolder 1"/>
          <p:cNvSpPr>
            <a:spLocks noGrp="1"/>
          </p:cNvSpPr>
          <p:nvPr>
            <p:ph type="title"/>
          </p:nvPr>
        </p:nvSpPr>
        <p:spPr>
          <a:xfrm>
            <a:off x="1933920" y="716760"/>
            <a:ext cx="5276160" cy="1395720"/>
          </a:xfrm>
          <a:prstGeom prst="rect">
            <a:avLst/>
          </a:prstGeom>
          <a:noFill/>
          <a:ln w="0">
            <a:noFill/>
          </a:ln>
        </p:spPr>
        <p:txBody>
          <a:bodyPr lIns="91440" tIns="91440" rIns="91440" bIns="91440" anchor="b">
            <a:noAutofit/>
          </a:bodyPr>
          <a:lstStyle/>
          <a:p>
            <a:pPr indent="0">
              <a:buNone/>
            </a:pPr>
            <a:r>
              <a:rPr lang="fr-FR" sz="3400" b="0" u="none" strike="noStrike">
                <a:solidFill>
                  <a:schemeClr val="dk1"/>
                </a:solidFill>
                <a:effectLst/>
                <a:uFillTx/>
                <a:latin typeface="Arial"/>
              </a:rPr>
              <a:t>Click to edit the title text format</a:t>
            </a:r>
          </a:p>
        </p:txBody>
      </p:sp>
      <p:sp>
        <p:nvSpPr>
          <p:cNvPr id="5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1_1_1_1_1_1">
    <p:bg>
      <p:bgPr>
        <a:blipFill rotWithShape="0">
          <a:blip r:embed="rId2"/>
          <a:stretch/>
        </a:blipFill>
        <a:effectLst/>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1186200" y="420120"/>
            <a:ext cx="6771600" cy="929160"/>
          </a:xfrm>
          <a:prstGeom prst="rect">
            <a:avLst/>
          </a:prstGeom>
          <a:no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
        <p:nvSpPr>
          <p:cNvPr id="53" name="Google Shape;135;p16"/>
          <p:cNvSpPr/>
          <p:nvPr/>
        </p:nvSpPr>
        <p:spPr>
          <a:xfrm>
            <a:off x="336600" y="293400"/>
            <a:ext cx="8470440" cy="4556160"/>
          </a:xfrm>
          <a:prstGeom prst="roundRect">
            <a:avLst>
              <a:gd name="adj" fmla="val 2444"/>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4" name="Google Shape;136;p16"/>
          <p:cNvGrpSpPr/>
          <p:nvPr/>
        </p:nvGrpSpPr>
        <p:grpSpPr>
          <a:xfrm>
            <a:off x="59040" y="4446720"/>
            <a:ext cx="621720" cy="608400"/>
            <a:chOff x="59040" y="4446720"/>
            <a:chExt cx="621720" cy="608400"/>
          </a:xfrm>
        </p:grpSpPr>
        <p:sp>
          <p:nvSpPr>
            <p:cNvPr id="55" name="Google Shape;137;p16"/>
            <p:cNvSpPr/>
            <p:nvPr/>
          </p:nvSpPr>
          <p:spPr>
            <a:xfrm>
              <a:off x="59040" y="4464720"/>
              <a:ext cx="590400" cy="59040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6" name="Google Shape;138;p16"/>
            <p:cNvGrpSpPr/>
            <p:nvPr/>
          </p:nvGrpSpPr>
          <p:grpSpPr>
            <a:xfrm>
              <a:off x="59040" y="4446720"/>
              <a:ext cx="621720" cy="608400"/>
              <a:chOff x="59040" y="4446720"/>
              <a:chExt cx="621720" cy="608400"/>
            </a:xfrm>
          </p:grpSpPr>
          <p:sp>
            <p:nvSpPr>
              <p:cNvPr id="57" name="Google Shape;139;p16"/>
              <p:cNvSpPr/>
              <p:nvPr/>
            </p:nvSpPr>
            <p:spPr>
              <a:xfrm>
                <a:off x="90360" y="4446720"/>
                <a:ext cx="590400" cy="590400"/>
              </a:xfrm>
              <a:prstGeom prst="ellipse">
                <a:avLst/>
              </a:pr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 name="Google Shape;140;p16"/>
              <p:cNvSpPr/>
              <p:nvPr/>
            </p:nvSpPr>
            <p:spPr>
              <a:xfrm>
                <a:off x="59040" y="4464720"/>
                <a:ext cx="590400" cy="59040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59" name="Google Shape;141;p16"/>
          <p:cNvGrpSpPr/>
          <p:nvPr/>
        </p:nvGrpSpPr>
        <p:grpSpPr>
          <a:xfrm>
            <a:off x="8629920" y="474840"/>
            <a:ext cx="367200" cy="352440"/>
            <a:chOff x="8629920" y="474840"/>
            <a:chExt cx="367200" cy="352440"/>
          </a:xfrm>
        </p:grpSpPr>
        <p:sp>
          <p:nvSpPr>
            <p:cNvPr id="60" name="Google Shape;142;p16"/>
            <p:cNvSpPr/>
            <p:nvPr/>
          </p:nvSpPr>
          <p:spPr>
            <a:xfrm>
              <a:off x="8629920" y="483840"/>
              <a:ext cx="343440" cy="34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1" name="Google Shape;143;p16"/>
            <p:cNvGrpSpPr/>
            <p:nvPr/>
          </p:nvGrpSpPr>
          <p:grpSpPr>
            <a:xfrm>
              <a:off x="8629920" y="474840"/>
              <a:ext cx="367200" cy="352440"/>
              <a:chOff x="8629920" y="474840"/>
              <a:chExt cx="367200" cy="352440"/>
            </a:xfrm>
          </p:grpSpPr>
          <p:sp>
            <p:nvSpPr>
              <p:cNvPr id="62" name="Google Shape;144;p16"/>
              <p:cNvSpPr/>
              <p:nvPr/>
            </p:nvSpPr>
            <p:spPr>
              <a:xfrm>
                <a:off x="8653680" y="474840"/>
                <a:ext cx="343440" cy="3434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 name="Google Shape;145;p16"/>
              <p:cNvSpPr/>
              <p:nvPr/>
            </p:nvSpPr>
            <p:spPr>
              <a:xfrm>
                <a:off x="8629920" y="483840"/>
                <a:ext cx="343440" cy="34344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64" name="Google Shape;146;p16"/>
          <p:cNvGrpSpPr/>
          <p:nvPr/>
        </p:nvGrpSpPr>
        <p:grpSpPr>
          <a:xfrm>
            <a:off x="8684640" y="907200"/>
            <a:ext cx="257760" cy="228960"/>
            <a:chOff x="8684640" y="907200"/>
            <a:chExt cx="257760" cy="228960"/>
          </a:xfrm>
        </p:grpSpPr>
        <p:sp>
          <p:nvSpPr>
            <p:cNvPr id="65" name="Google Shape;147;p16"/>
            <p:cNvSpPr/>
            <p:nvPr/>
          </p:nvSpPr>
          <p:spPr>
            <a:xfrm>
              <a:off x="8684640" y="907200"/>
              <a:ext cx="228960" cy="22896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6" name="Google Shape;148;p16"/>
            <p:cNvGrpSpPr/>
            <p:nvPr/>
          </p:nvGrpSpPr>
          <p:grpSpPr>
            <a:xfrm>
              <a:off x="8684640" y="907200"/>
              <a:ext cx="257760" cy="228960"/>
              <a:chOff x="8684640" y="907200"/>
              <a:chExt cx="257760" cy="228960"/>
            </a:xfrm>
          </p:grpSpPr>
          <p:sp>
            <p:nvSpPr>
              <p:cNvPr id="67" name="Google Shape;149;p16"/>
              <p:cNvSpPr/>
              <p:nvPr/>
            </p:nvSpPr>
            <p:spPr>
              <a:xfrm>
                <a:off x="8713440" y="907200"/>
                <a:ext cx="228960" cy="2289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 name="Google Shape;150;p16"/>
              <p:cNvSpPr/>
              <p:nvPr/>
            </p:nvSpPr>
            <p:spPr>
              <a:xfrm>
                <a:off x="8684640" y="907200"/>
                <a:ext cx="228960" cy="22896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1_1_2_1">
    <p:bg>
      <p:bgPr>
        <a:blipFill rotWithShape="0">
          <a:blip r:embed="rId2"/>
          <a:stretch/>
        </a:blipFill>
        <a:effectLst/>
      </p:bgPr>
    </p:bg>
    <p:spTree>
      <p:nvGrpSpPr>
        <p:cNvPr id="1" name=""/>
        <p:cNvGrpSpPr/>
        <p:nvPr/>
      </p:nvGrpSpPr>
      <p:grpSpPr>
        <a:xfrm>
          <a:off x="0" y="0"/>
          <a:ext cx="0" cy="0"/>
          <a:chOff x="0" y="0"/>
          <a:chExt cx="0" cy="0"/>
        </a:xfrm>
      </p:grpSpPr>
      <p:sp>
        <p:nvSpPr>
          <p:cNvPr id="69" name="Google Shape;152;p17"/>
          <p:cNvSpPr/>
          <p:nvPr/>
        </p:nvSpPr>
        <p:spPr>
          <a:xfrm>
            <a:off x="336600" y="293400"/>
            <a:ext cx="8470440" cy="4556160"/>
          </a:xfrm>
          <a:prstGeom prst="roundRect">
            <a:avLst>
              <a:gd name="adj" fmla="val 2444"/>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 name="PlaceHolder 1"/>
          <p:cNvSpPr>
            <a:spLocks noGrp="1"/>
          </p:cNvSpPr>
          <p:nvPr>
            <p:ph type="title"/>
          </p:nvPr>
        </p:nvSpPr>
        <p:spPr>
          <a:xfrm>
            <a:off x="674640" y="2742120"/>
            <a:ext cx="2302200" cy="385920"/>
          </a:xfrm>
          <a:prstGeom prst="rect">
            <a:avLst/>
          </a:prstGeom>
          <a:noFill/>
          <a:ln w="0">
            <a:noFill/>
          </a:ln>
        </p:spPr>
        <p:txBody>
          <a:bodyPr lIns="91440" tIns="91440" rIns="91440" bIns="91440" anchor="t">
            <a:noAutofit/>
          </a:bodyPr>
          <a:lstStyle/>
          <a:p>
            <a:pPr indent="0">
              <a:buNone/>
            </a:pPr>
            <a:r>
              <a:rPr lang="fr-FR" sz="1800" b="0" u="none" strike="noStrike">
                <a:solidFill>
                  <a:schemeClr val="dk1"/>
                </a:solidFill>
                <a:effectLst/>
                <a:uFillTx/>
                <a:latin typeface="Arial"/>
              </a:rPr>
              <a:t>Click to edit the title text format</a:t>
            </a:r>
          </a:p>
        </p:txBody>
      </p:sp>
      <p:sp>
        <p:nvSpPr>
          <p:cNvPr id="71" name="PlaceHolder 2"/>
          <p:cNvSpPr>
            <a:spLocks noGrp="1"/>
          </p:cNvSpPr>
          <p:nvPr>
            <p:ph type="title"/>
          </p:nvPr>
        </p:nvSpPr>
        <p:spPr>
          <a:xfrm>
            <a:off x="3420720" y="2742120"/>
            <a:ext cx="2302200" cy="385920"/>
          </a:xfrm>
          <a:prstGeom prst="rect">
            <a:avLst/>
          </a:prstGeom>
          <a:noFill/>
          <a:ln w="0">
            <a:noFill/>
          </a:ln>
        </p:spPr>
        <p:txBody>
          <a:bodyPr lIns="91440" tIns="91440" rIns="91440" bIns="91440" anchor="t">
            <a:noAutofit/>
          </a:bodyPr>
          <a:lstStyle/>
          <a:p>
            <a:pPr indent="0">
              <a:buNone/>
            </a:pPr>
            <a:r>
              <a:rPr lang="fr-FR" sz="1800" b="0" u="none" strike="noStrike">
                <a:solidFill>
                  <a:schemeClr val="dk1"/>
                </a:solidFill>
                <a:effectLst/>
                <a:uFillTx/>
                <a:latin typeface="Arial"/>
              </a:rPr>
              <a:t>Click to edit the title text format</a:t>
            </a:r>
          </a:p>
        </p:txBody>
      </p:sp>
      <p:sp>
        <p:nvSpPr>
          <p:cNvPr id="72" name="PlaceHolder 3"/>
          <p:cNvSpPr>
            <a:spLocks noGrp="1"/>
          </p:cNvSpPr>
          <p:nvPr>
            <p:ph type="title"/>
          </p:nvPr>
        </p:nvSpPr>
        <p:spPr>
          <a:xfrm>
            <a:off x="6166800" y="2742120"/>
            <a:ext cx="2302200" cy="385920"/>
          </a:xfrm>
          <a:prstGeom prst="rect">
            <a:avLst/>
          </a:prstGeom>
          <a:noFill/>
          <a:ln w="0">
            <a:noFill/>
          </a:ln>
        </p:spPr>
        <p:txBody>
          <a:bodyPr lIns="91440" tIns="91440" rIns="91440" bIns="91440" anchor="t">
            <a:noAutofit/>
          </a:bodyPr>
          <a:lstStyle/>
          <a:p>
            <a:pPr indent="0">
              <a:buNone/>
            </a:pPr>
            <a:r>
              <a:rPr lang="fr-FR" sz="1800" b="0" u="none" strike="noStrike">
                <a:solidFill>
                  <a:schemeClr val="dk1"/>
                </a:solidFill>
                <a:effectLst/>
                <a:uFillTx/>
                <a:latin typeface="Arial"/>
              </a:rPr>
              <a:t>Click to edit the title text format</a:t>
            </a:r>
          </a:p>
        </p:txBody>
      </p:sp>
      <p:sp>
        <p:nvSpPr>
          <p:cNvPr id="73" name="PlaceHolder 4"/>
          <p:cNvSpPr>
            <a:spLocks noGrp="1"/>
          </p:cNvSpPr>
          <p:nvPr>
            <p:ph type="title"/>
          </p:nvPr>
        </p:nvSpPr>
        <p:spPr>
          <a:xfrm>
            <a:off x="849600" y="420120"/>
            <a:ext cx="7444440" cy="646200"/>
          </a:xfrm>
          <a:prstGeom prst="rect">
            <a:avLst/>
          </a:prstGeom>
          <a:no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1_1_1_2_1">
    <p:bg>
      <p:bgPr>
        <a:blipFill rotWithShape="0">
          <a:blip r:embed="rId2"/>
          <a:stretch/>
        </a:blipFill>
        <a:effectLst/>
      </p:bgPr>
    </p:bg>
    <p:spTree>
      <p:nvGrpSpPr>
        <p:cNvPr id="1" name=""/>
        <p:cNvGrpSpPr/>
        <p:nvPr/>
      </p:nvGrpSpPr>
      <p:grpSpPr>
        <a:xfrm>
          <a:off x="0" y="0"/>
          <a:ext cx="0" cy="0"/>
          <a:chOff x="0" y="0"/>
          <a:chExt cx="0" cy="0"/>
        </a:xfrm>
      </p:grpSpPr>
      <p:sp>
        <p:nvSpPr>
          <p:cNvPr id="74" name="Google Shape;161;p18"/>
          <p:cNvSpPr/>
          <p:nvPr/>
        </p:nvSpPr>
        <p:spPr>
          <a:xfrm>
            <a:off x="336600" y="293400"/>
            <a:ext cx="8470440" cy="4556160"/>
          </a:xfrm>
          <a:prstGeom prst="roundRect">
            <a:avLst>
              <a:gd name="adj" fmla="val 2444"/>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 name="PlaceHolder 1"/>
          <p:cNvSpPr>
            <a:spLocks noGrp="1"/>
          </p:cNvSpPr>
          <p:nvPr>
            <p:ph type="title"/>
          </p:nvPr>
        </p:nvSpPr>
        <p:spPr>
          <a:xfrm>
            <a:off x="1513440" y="1422360"/>
            <a:ext cx="1141560" cy="64440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76" name="PlaceHolder 2"/>
          <p:cNvSpPr>
            <a:spLocks noGrp="1"/>
          </p:cNvSpPr>
          <p:nvPr>
            <p:ph type="title"/>
          </p:nvPr>
        </p:nvSpPr>
        <p:spPr>
          <a:xfrm>
            <a:off x="3966120" y="1422360"/>
            <a:ext cx="1141560" cy="64440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77" name="PlaceHolder 3"/>
          <p:cNvSpPr>
            <a:spLocks noGrp="1"/>
          </p:cNvSpPr>
          <p:nvPr>
            <p:ph type="title"/>
          </p:nvPr>
        </p:nvSpPr>
        <p:spPr>
          <a:xfrm>
            <a:off x="6453720" y="1422360"/>
            <a:ext cx="1141560" cy="64440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78" name="PlaceHolder 4"/>
          <p:cNvSpPr>
            <a:spLocks noGrp="1"/>
          </p:cNvSpPr>
          <p:nvPr>
            <p:ph type="title"/>
          </p:nvPr>
        </p:nvSpPr>
        <p:spPr>
          <a:xfrm>
            <a:off x="1513440" y="2856960"/>
            <a:ext cx="1141560" cy="64620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79" name="PlaceHolder 5"/>
          <p:cNvSpPr>
            <a:spLocks noGrp="1"/>
          </p:cNvSpPr>
          <p:nvPr>
            <p:ph type="title"/>
          </p:nvPr>
        </p:nvSpPr>
        <p:spPr>
          <a:xfrm>
            <a:off x="3966120" y="2856960"/>
            <a:ext cx="1141560" cy="64620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80" name="PlaceHolder 6"/>
          <p:cNvSpPr>
            <a:spLocks noGrp="1"/>
          </p:cNvSpPr>
          <p:nvPr>
            <p:ph type="title"/>
          </p:nvPr>
        </p:nvSpPr>
        <p:spPr>
          <a:xfrm>
            <a:off x="6453720" y="2856960"/>
            <a:ext cx="1141560" cy="64620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81" name="PlaceHolder 7"/>
          <p:cNvSpPr>
            <a:spLocks noGrp="1"/>
          </p:cNvSpPr>
          <p:nvPr>
            <p:ph type="title"/>
          </p:nvPr>
        </p:nvSpPr>
        <p:spPr>
          <a:xfrm>
            <a:off x="849600" y="420120"/>
            <a:ext cx="7444440" cy="646200"/>
          </a:xfrm>
          <a:prstGeom prst="rect">
            <a:avLst/>
          </a:prstGeom>
          <a:no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5_1_1_1">
    <p:bg>
      <p:bgPr>
        <a:blipFill rotWithShape="0">
          <a:blip r:embed="rId2"/>
          <a:stretch/>
        </a:blipFill>
        <a:effectLst/>
      </p:bgPr>
    </p:bg>
    <p:spTree>
      <p:nvGrpSpPr>
        <p:cNvPr id="1" name=""/>
        <p:cNvGrpSpPr/>
        <p:nvPr/>
      </p:nvGrpSpPr>
      <p:grpSpPr>
        <a:xfrm>
          <a:off x="0" y="0"/>
          <a:ext cx="0" cy="0"/>
          <a:chOff x="0" y="0"/>
          <a:chExt cx="0" cy="0"/>
        </a:xfrm>
      </p:grpSpPr>
      <p:sp>
        <p:nvSpPr>
          <p:cNvPr id="82" name="Google Shape;176;p19"/>
          <p:cNvSpPr/>
          <p:nvPr/>
        </p:nvSpPr>
        <p:spPr>
          <a:xfrm>
            <a:off x="336600" y="293400"/>
            <a:ext cx="8470440" cy="4556160"/>
          </a:xfrm>
          <a:prstGeom prst="roundRect">
            <a:avLst>
              <a:gd name="adj" fmla="val 2444"/>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 name="PlaceHolder 1"/>
          <p:cNvSpPr>
            <a:spLocks noGrp="1"/>
          </p:cNvSpPr>
          <p:nvPr>
            <p:ph type="title"/>
          </p:nvPr>
        </p:nvSpPr>
        <p:spPr>
          <a:xfrm>
            <a:off x="2208600" y="837000"/>
            <a:ext cx="4726440" cy="618840"/>
          </a:xfrm>
          <a:prstGeom prst="rect">
            <a:avLst/>
          </a:prstGeom>
          <a:noFill/>
          <a:ln w="0">
            <a:noFill/>
          </a:ln>
        </p:spPr>
        <p:txBody>
          <a:bodyPr lIns="91440" tIns="91440" rIns="91440" bIns="91440" anchor="t">
            <a:noAutofit/>
          </a:bodyPr>
          <a:lstStyle/>
          <a:p>
            <a:pPr indent="0" algn="ctr">
              <a:lnSpc>
                <a:spcPct val="100000"/>
              </a:lnSpc>
              <a:buNone/>
            </a:pPr>
            <a:r>
              <a:rPr lang="fr-FR" sz="3300" b="0" u="none" strike="noStrike">
                <a:solidFill>
                  <a:schemeClr val="dk1"/>
                </a:solidFill>
                <a:effectLst/>
                <a:uFillTx/>
                <a:latin typeface="Arapey"/>
                <a:ea typeface="Arapey"/>
              </a:rPr>
              <a:t>xx%</a:t>
            </a:r>
            <a:endParaRPr lang="fr-FR" sz="3300" b="0" u="none" strike="noStrike">
              <a:solidFill>
                <a:schemeClr val="dk1"/>
              </a:solidFill>
              <a:effectLst/>
              <a:uFillTx/>
              <a:latin typeface="Arial"/>
            </a:endParaRPr>
          </a:p>
        </p:txBody>
      </p:sp>
      <p:sp>
        <p:nvSpPr>
          <p:cNvPr id="84" name="PlaceHolder 2"/>
          <p:cNvSpPr>
            <a:spLocks noGrp="1"/>
          </p:cNvSpPr>
          <p:nvPr>
            <p:ph type="title"/>
          </p:nvPr>
        </p:nvSpPr>
        <p:spPr>
          <a:xfrm>
            <a:off x="1630080" y="1954800"/>
            <a:ext cx="5883480" cy="618840"/>
          </a:xfrm>
          <a:prstGeom prst="rect">
            <a:avLst/>
          </a:prstGeom>
          <a:noFill/>
          <a:ln w="0">
            <a:noFill/>
          </a:ln>
        </p:spPr>
        <p:txBody>
          <a:bodyPr lIns="91440" tIns="91440" rIns="91440" bIns="91440" anchor="t">
            <a:noAutofit/>
          </a:bodyPr>
          <a:lstStyle/>
          <a:p>
            <a:pPr indent="0" algn="ctr">
              <a:lnSpc>
                <a:spcPct val="100000"/>
              </a:lnSpc>
              <a:buNone/>
            </a:pPr>
            <a:r>
              <a:rPr lang="fr-FR" sz="3300" b="0" u="none" strike="noStrike">
                <a:solidFill>
                  <a:schemeClr val="dk1"/>
                </a:solidFill>
                <a:effectLst/>
                <a:uFillTx/>
                <a:latin typeface="Arapey"/>
                <a:ea typeface="Arapey"/>
              </a:rPr>
              <a:t>xx%</a:t>
            </a:r>
            <a:endParaRPr lang="fr-FR" sz="3300" b="0" u="none" strike="noStrike">
              <a:solidFill>
                <a:schemeClr val="dk1"/>
              </a:solidFill>
              <a:effectLst/>
              <a:uFillTx/>
              <a:latin typeface="Arial"/>
            </a:endParaRPr>
          </a:p>
        </p:txBody>
      </p:sp>
      <p:sp>
        <p:nvSpPr>
          <p:cNvPr id="85" name="PlaceHolder 3"/>
          <p:cNvSpPr>
            <a:spLocks noGrp="1"/>
          </p:cNvSpPr>
          <p:nvPr>
            <p:ph type="title"/>
          </p:nvPr>
        </p:nvSpPr>
        <p:spPr>
          <a:xfrm>
            <a:off x="2208600" y="3117600"/>
            <a:ext cx="4726440" cy="618840"/>
          </a:xfrm>
          <a:prstGeom prst="rect">
            <a:avLst/>
          </a:prstGeom>
          <a:noFill/>
          <a:ln w="0">
            <a:noFill/>
          </a:ln>
        </p:spPr>
        <p:txBody>
          <a:bodyPr lIns="91440" tIns="91440" rIns="91440" bIns="91440" anchor="t">
            <a:noAutofit/>
          </a:bodyPr>
          <a:lstStyle/>
          <a:p>
            <a:pPr indent="0" algn="ctr">
              <a:lnSpc>
                <a:spcPct val="100000"/>
              </a:lnSpc>
              <a:buNone/>
            </a:pPr>
            <a:r>
              <a:rPr lang="fr-FR" sz="3300" b="0" u="none" strike="noStrike">
                <a:solidFill>
                  <a:schemeClr val="dk1"/>
                </a:solidFill>
                <a:effectLst/>
                <a:uFillTx/>
                <a:latin typeface="Arapey"/>
                <a:ea typeface="Arapey"/>
              </a:rPr>
              <a:t>xx%</a:t>
            </a:r>
            <a:endParaRPr lang="fr-FR" sz="3300" b="0" u="none" strike="noStrike">
              <a:solidFill>
                <a:schemeClr val="dk1"/>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OBJECT_1_1_1">
    <p:bg>
      <p:bgPr>
        <a:blipFill rotWithShape="0">
          <a:blip r:embed="rId2"/>
          <a:stretch/>
        </a:blipFill>
        <a:effectLst/>
      </p:bgPr>
    </p:bg>
    <p:spTree>
      <p:nvGrpSpPr>
        <p:cNvPr id="1" name=""/>
        <p:cNvGrpSpPr/>
        <p:nvPr/>
      </p:nvGrpSpPr>
      <p:grpSpPr>
        <a:xfrm>
          <a:off x="0" y="0"/>
          <a:ext cx="0" cy="0"/>
          <a:chOff x="0" y="0"/>
          <a:chExt cx="0" cy="0"/>
        </a:xfrm>
      </p:grpSpPr>
      <p:sp>
        <p:nvSpPr>
          <p:cNvPr id="86" name="Google Shape;184;p20"/>
          <p:cNvSpPr/>
          <p:nvPr/>
        </p:nvSpPr>
        <p:spPr>
          <a:xfrm>
            <a:off x="336600" y="293400"/>
            <a:ext cx="8470440" cy="4556160"/>
          </a:xfrm>
          <a:prstGeom prst="roundRect">
            <a:avLst>
              <a:gd name="adj" fmla="val 2444"/>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 name="Google Shape;186;p20"/>
          <p:cNvSpPr/>
          <p:nvPr/>
        </p:nvSpPr>
        <p:spPr>
          <a:xfrm>
            <a:off x="2988360" y="3295800"/>
            <a:ext cx="3166920" cy="5677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14000"/>
              </a:lnSpc>
              <a:tabLst>
                <a:tab pos="0" algn="l"/>
              </a:tabLst>
            </a:pPr>
            <a:r>
              <a:rPr lang="en" sz="1200" b="1" u="none" strike="noStrike">
                <a:solidFill>
                  <a:schemeClr val="dk1"/>
                </a:solidFill>
                <a:effectLst/>
                <a:uFillTx/>
                <a:latin typeface="Red Hat Display"/>
                <a:ea typeface="Red Hat Display"/>
              </a:rPr>
              <a:t>CREDITS:</a:t>
            </a:r>
            <a:r>
              <a:rPr lang="en" sz="1200" b="0" u="none" strike="noStrike">
                <a:solidFill>
                  <a:schemeClr val="dk1"/>
                </a:solidFill>
                <a:effectLst/>
                <a:uFillTx/>
                <a:latin typeface="Red Hat Display"/>
                <a:ea typeface="Red Hat Display"/>
              </a:rPr>
              <a:t> This presentation template was created by </a:t>
            </a:r>
            <a:r>
              <a:rPr lang="en" sz="1200" b="1" u="sng" strike="noStrike">
                <a:solidFill>
                  <a:schemeClr val="dk1"/>
                </a:solidFill>
                <a:effectLst/>
                <a:uFillTx/>
                <a:latin typeface="Red Hat Display"/>
                <a:ea typeface="Red Hat Display"/>
                <a:hlinkClick r:id="rId3"/>
              </a:rPr>
              <a:t>Slidesgo</a:t>
            </a:r>
            <a:r>
              <a:rPr lang="en" sz="1200" b="1" u="none" strike="noStrike">
                <a:solidFill>
                  <a:schemeClr val="dk1"/>
                </a:solidFill>
                <a:effectLst/>
                <a:uFillTx/>
                <a:latin typeface="Red Hat Display"/>
                <a:ea typeface="Red Hat Display"/>
              </a:rPr>
              <a:t>,</a:t>
            </a:r>
            <a:r>
              <a:rPr lang="en" sz="1200" b="0" u="none" strike="noStrike">
                <a:solidFill>
                  <a:schemeClr val="dk1"/>
                </a:solidFill>
                <a:effectLst/>
                <a:uFillTx/>
                <a:latin typeface="Red Hat Display"/>
                <a:ea typeface="Red Hat Display"/>
              </a:rPr>
              <a:t> including icons,</a:t>
            </a:r>
            <a:r>
              <a:rPr lang="en" sz="1200" b="1" u="none" strike="noStrike">
                <a:solidFill>
                  <a:schemeClr val="dk1"/>
                </a:solidFill>
                <a:effectLst/>
                <a:uFillTx/>
                <a:latin typeface="Red Hat Display"/>
                <a:ea typeface="Red Hat Display"/>
              </a:rPr>
              <a:t> </a:t>
            </a:r>
            <a:r>
              <a:rPr lang="en" sz="1200" b="0" u="none" strike="noStrike">
                <a:solidFill>
                  <a:schemeClr val="dk1"/>
                </a:solidFill>
                <a:effectLst/>
                <a:uFillTx/>
                <a:latin typeface="Red Hat Display"/>
                <a:ea typeface="Red Hat Display"/>
              </a:rPr>
              <a:t>infographics &amp; images by </a:t>
            </a:r>
            <a:r>
              <a:rPr lang="en" sz="1200" b="1" u="sng" strike="noStrike">
                <a:solidFill>
                  <a:schemeClr val="dk1"/>
                </a:solidFill>
                <a:effectLst/>
                <a:uFillTx/>
                <a:latin typeface="Red Hat Display"/>
                <a:ea typeface="Red Hat Display"/>
                <a:hlinkClick r:id="rId4"/>
              </a:rPr>
              <a:t>Freepik</a:t>
            </a:r>
            <a:r>
              <a:rPr lang="en" sz="1200" b="1" u="none" strike="noStrike">
                <a:solidFill>
                  <a:schemeClr val="dk1"/>
                </a:solidFill>
                <a:effectLst/>
                <a:uFillTx/>
                <a:latin typeface="Red Hat Display"/>
                <a:ea typeface="Red Hat Display"/>
              </a:rPr>
              <a:t> </a:t>
            </a:r>
            <a:endParaRPr lang="en-US" sz="1200" b="0" u="none" strike="noStrike">
              <a:solidFill>
                <a:srgbClr val="000000"/>
              </a:solidFill>
              <a:effectLst/>
              <a:uFillTx/>
              <a:latin typeface="OpenSymbol"/>
            </a:endParaRPr>
          </a:p>
        </p:txBody>
      </p:sp>
      <p:sp>
        <p:nvSpPr>
          <p:cNvPr id="88" name="PlaceHolder 1"/>
          <p:cNvSpPr>
            <a:spLocks noGrp="1"/>
          </p:cNvSpPr>
          <p:nvPr>
            <p:ph type="title"/>
          </p:nvPr>
        </p:nvSpPr>
        <p:spPr>
          <a:xfrm>
            <a:off x="1851120" y="729360"/>
            <a:ext cx="5441040" cy="909720"/>
          </a:xfrm>
          <a:prstGeom prst="rect">
            <a:avLst/>
          </a:prstGeom>
          <a:noFill/>
          <a:ln w="0">
            <a:noFill/>
          </a:ln>
        </p:spPr>
        <p:txBody>
          <a:bodyPr lIns="0" tIns="0" rIns="0" bIns="0" anchor="t">
            <a:noAutofit/>
          </a:bodyPr>
          <a:lstStyle/>
          <a:p>
            <a:pPr indent="0">
              <a:buNone/>
            </a:pPr>
            <a:r>
              <a:rPr lang="fr-FR" sz="6000" b="0" u="none" strike="noStrike">
                <a:solidFill>
                  <a:schemeClr val="dk1"/>
                </a:solidFill>
                <a:effectLst/>
                <a:uFillTx/>
                <a:latin typeface="Arial"/>
              </a:rPr>
              <a:t>Click to edit the title text format</a:t>
            </a:r>
          </a:p>
        </p:txBody>
      </p:sp>
      <p:grpSp>
        <p:nvGrpSpPr>
          <p:cNvPr id="89" name="Google Shape;188;p20"/>
          <p:cNvGrpSpPr/>
          <p:nvPr/>
        </p:nvGrpSpPr>
        <p:grpSpPr>
          <a:xfrm>
            <a:off x="73440" y="113400"/>
            <a:ext cx="1183680" cy="888840"/>
            <a:chOff x="73440" y="113400"/>
            <a:chExt cx="1183680" cy="888840"/>
          </a:xfrm>
        </p:grpSpPr>
        <p:sp>
          <p:nvSpPr>
            <p:cNvPr id="90" name="Google Shape;189;p20"/>
            <p:cNvSpPr/>
            <p:nvPr/>
          </p:nvSpPr>
          <p:spPr>
            <a:xfrm rot="17676600">
              <a:off x="302040" y="234720"/>
              <a:ext cx="659880" cy="659880"/>
            </a:xfrm>
            <a:prstGeom prst="ellipse">
              <a:avLst/>
            </a:pr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 name="Google Shape;190;p20"/>
            <p:cNvSpPr/>
            <p:nvPr/>
          </p:nvSpPr>
          <p:spPr>
            <a:xfrm rot="17676600">
              <a:off x="279720" y="224640"/>
              <a:ext cx="659880" cy="65988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 name="Google Shape;191;p20"/>
            <p:cNvSpPr/>
            <p:nvPr/>
          </p:nvSpPr>
          <p:spPr>
            <a:xfrm rot="17676600">
              <a:off x="140400" y="600840"/>
              <a:ext cx="255960" cy="2559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 name="Google Shape;192;p20"/>
            <p:cNvSpPr/>
            <p:nvPr/>
          </p:nvSpPr>
          <p:spPr>
            <a:xfrm rot="17676600">
              <a:off x="798840" y="201600"/>
              <a:ext cx="383760" cy="3837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 name="Google Shape;193;p20"/>
            <p:cNvSpPr/>
            <p:nvPr/>
          </p:nvSpPr>
          <p:spPr>
            <a:xfrm rot="17676600">
              <a:off x="810720" y="175680"/>
              <a:ext cx="383760" cy="38376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 name="Google Shape;194;p20"/>
            <p:cNvSpPr/>
            <p:nvPr/>
          </p:nvSpPr>
          <p:spPr>
            <a:xfrm rot="17676600">
              <a:off x="114840" y="602640"/>
              <a:ext cx="255960" cy="25596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6" name="Google Shape;195;p20"/>
          <p:cNvGrpSpPr/>
          <p:nvPr/>
        </p:nvGrpSpPr>
        <p:grpSpPr>
          <a:xfrm>
            <a:off x="7940160" y="4631040"/>
            <a:ext cx="456480" cy="426600"/>
            <a:chOff x="7940160" y="4631040"/>
            <a:chExt cx="456480" cy="426600"/>
          </a:xfrm>
        </p:grpSpPr>
        <p:sp>
          <p:nvSpPr>
            <p:cNvPr id="97" name="Google Shape;196;p20"/>
            <p:cNvSpPr/>
            <p:nvPr/>
          </p:nvSpPr>
          <p:spPr>
            <a:xfrm>
              <a:off x="7970040" y="4631040"/>
              <a:ext cx="426600" cy="42660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8" name="Google Shape;197;p20"/>
            <p:cNvGrpSpPr/>
            <p:nvPr/>
          </p:nvGrpSpPr>
          <p:grpSpPr>
            <a:xfrm>
              <a:off x="7940160" y="4631040"/>
              <a:ext cx="456480" cy="426600"/>
              <a:chOff x="7940160" y="4631040"/>
              <a:chExt cx="456480" cy="426600"/>
            </a:xfrm>
          </p:grpSpPr>
          <p:sp>
            <p:nvSpPr>
              <p:cNvPr id="99" name="Google Shape;198;p20"/>
              <p:cNvSpPr/>
              <p:nvPr/>
            </p:nvSpPr>
            <p:spPr>
              <a:xfrm>
                <a:off x="7940160" y="4631040"/>
                <a:ext cx="426600" cy="426600"/>
              </a:xfrm>
              <a:prstGeom prst="ellipse">
                <a:avLst/>
              </a:pr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 name="Google Shape;199;p20"/>
              <p:cNvSpPr/>
              <p:nvPr/>
            </p:nvSpPr>
            <p:spPr>
              <a:xfrm>
                <a:off x="7970040" y="4631040"/>
                <a:ext cx="426600" cy="42660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01" name="Google Shape;200;p20"/>
          <p:cNvGrpSpPr/>
          <p:nvPr/>
        </p:nvGrpSpPr>
        <p:grpSpPr>
          <a:xfrm>
            <a:off x="8197920" y="3918600"/>
            <a:ext cx="833760" cy="779040"/>
            <a:chOff x="8197920" y="3918600"/>
            <a:chExt cx="833760" cy="779040"/>
          </a:xfrm>
        </p:grpSpPr>
        <p:sp>
          <p:nvSpPr>
            <p:cNvPr id="102" name="Google Shape;201;p20"/>
            <p:cNvSpPr/>
            <p:nvPr/>
          </p:nvSpPr>
          <p:spPr>
            <a:xfrm>
              <a:off x="8252640" y="3918600"/>
              <a:ext cx="779040" cy="7790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3" name="Google Shape;202;p20"/>
            <p:cNvGrpSpPr/>
            <p:nvPr/>
          </p:nvGrpSpPr>
          <p:grpSpPr>
            <a:xfrm>
              <a:off x="8197920" y="3918600"/>
              <a:ext cx="833760" cy="779040"/>
              <a:chOff x="8197920" y="3918600"/>
              <a:chExt cx="833760" cy="779040"/>
            </a:xfrm>
          </p:grpSpPr>
          <p:sp>
            <p:nvSpPr>
              <p:cNvPr id="104" name="Google Shape;203;p20"/>
              <p:cNvSpPr/>
              <p:nvPr/>
            </p:nvSpPr>
            <p:spPr>
              <a:xfrm>
                <a:off x="8197920" y="3918600"/>
                <a:ext cx="779040" cy="77904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 name="Google Shape;204;p20"/>
              <p:cNvSpPr/>
              <p:nvPr/>
            </p:nvSpPr>
            <p:spPr>
              <a:xfrm>
                <a:off x="8252640" y="3918600"/>
                <a:ext cx="779040" cy="77904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blipFill rotWithShape="0">
          <a:blip r:embed="rId2"/>
          <a:stretch/>
        </a:blipFill>
        <a:effectLst/>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675720" y="2418120"/>
            <a:ext cx="7792560" cy="879120"/>
          </a:xfrm>
          <a:prstGeom prst="rect">
            <a:avLst/>
          </a:prstGeom>
          <a:noFill/>
          <a:ln w="0">
            <a:noFill/>
          </a:ln>
        </p:spPr>
        <p:txBody>
          <a:bodyPr lIns="91440" tIns="91440" rIns="91440" bIns="91440" anchor="t">
            <a:noAutofit/>
          </a:bodyPr>
          <a:lstStyle/>
          <a:p>
            <a:pPr indent="0">
              <a:buNone/>
            </a:pPr>
            <a:r>
              <a:rPr lang="fr-FR" sz="4000" b="0" u="none" strike="noStrike">
                <a:solidFill>
                  <a:schemeClr val="dk1"/>
                </a:solidFill>
                <a:effectLst/>
                <a:uFillTx/>
                <a:latin typeface="Arial"/>
              </a:rPr>
              <a:t>Click to edit the title text format</a:t>
            </a:r>
          </a:p>
        </p:txBody>
      </p:sp>
      <p:sp>
        <p:nvSpPr>
          <p:cNvPr id="107" name="PlaceHolder 2"/>
          <p:cNvSpPr>
            <a:spLocks noGrp="1"/>
          </p:cNvSpPr>
          <p:nvPr>
            <p:ph type="title"/>
          </p:nvPr>
        </p:nvSpPr>
        <p:spPr>
          <a:xfrm>
            <a:off x="3507480" y="895680"/>
            <a:ext cx="2128680" cy="1379520"/>
          </a:xfrm>
          <a:prstGeom prst="rect">
            <a:avLst/>
          </a:prstGeom>
          <a:noFill/>
          <a:ln w="0">
            <a:noFill/>
          </a:ln>
        </p:spPr>
        <p:txBody>
          <a:bodyPr lIns="91440" tIns="91440" rIns="91440" bIns="91440" anchor="t">
            <a:noAutofit/>
          </a:bodyPr>
          <a:lstStyle/>
          <a:p>
            <a:pPr indent="0" algn="ctr">
              <a:lnSpc>
                <a:spcPct val="100000"/>
              </a:lnSpc>
              <a:buNone/>
            </a:pPr>
            <a:r>
              <a:rPr lang="fr-FR" sz="9600" b="0" u="none" strike="noStrike">
                <a:solidFill>
                  <a:schemeClr val="dk1"/>
                </a:solidFill>
                <a:effectLst/>
                <a:uFillTx/>
                <a:latin typeface="Arapey"/>
                <a:ea typeface="Arapey"/>
              </a:rPr>
              <a:t>xx%</a:t>
            </a:r>
            <a:endParaRPr lang="fr-FR" sz="9600" b="0" u="none" strike="noStrike">
              <a:solidFill>
                <a:schemeClr val="dk1"/>
              </a:solidFill>
              <a:effectLst/>
              <a:uFillTx/>
              <a:latin typeface="Arial"/>
            </a:endParaRPr>
          </a:p>
        </p:txBody>
      </p:sp>
      <p:sp>
        <p:nvSpPr>
          <p:cNvPr id="108" name="Google Shape;31;p3"/>
          <p:cNvSpPr/>
          <p:nvPr/>
        </p:nvSpPr>
        <p:spPr>
          <a:xfrm>
            <a:off x="336600" y="293400"/>
            <a:ext cx="8470440" cy="4556160"/>
          </a:xfrm>
          <a:prstGeom prst="roundRect">
            <a:avLst>
              <a:gd name="adj" fmla="val 2444"/>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9" name="Google Shape;32;p3"/>
          <p:cNvGrpSpPr/>
          <p:nvPr/>
        </p:nvGrpSpPr>
        <p:grpSpPr>
          <a:xfrm>
            <a:off x="8619840" y="705240"/>
            <a:ext cx="365400" cy="341640"/>
            <a:chOff x="8619840" y="705240"/>
            <a:chExt cx="365400" cy="341640"/>
          </a:xfrm>
        </p:grpSpPr>
        <p:sp>
          <p:nvSpPr>
            <p:cNvPr id="110" name="Google Shape;33;p3"/>
            <p:cNvSpPr/>
            <p:nvPr/>
          </p:nvSpPr>
          <p:spPr>
            <a:xfrm flipH="1">
              <a:off x="8619480" y="705240"/>
              <a:ext cx="341640" cy="341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1" name="Google Shape;34;p3"/>
            <p:cNvGrpSpPr/>
            <p:nvPr/>
          </p:nvGrpSpPr>
          <p:grpSpPr>
            <a:xfrm>
              <a:off x="8619840" y="705240"/>
              <a:ext cx="365400" cy="341640"/>
              <a:chOff x="8619840" y="705240"/>
              <a:chExt cx="365400" cy="341640"/>
            </a:xfrm>
          </p:grpSpPr>
          <p:sp>
            <p:nvSpPr>
              <p:cNvPr id="112" name="Google Shape;35;p3"/>
              <p:cNvSpPr/>
              <p:nvPr/>
            </p:nvSpPr>
            <p:spPr>
              <a:xfrm flipH="1">
                <a:off x="8643240" y="705240"/>
                <a:ext cx="341640" cy="34164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 name="Google Shape;36;p3"/>
              <p:cNvSpPr/>
              <p:nvPr/>
            </p:nvSpPr>
            <p:spPr>
              <a:xfrm flipH="1">
                <a:off x="8619480" y="705240"/>
                <a:ext cx="341640" cy="34164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14" name="Google Shape;37;p3"/>
          <p:cNvGrpSpPr/>
          <p:nvPr/>
        </p:nvGrpSpPr>
        <p:grpSpPr>
          <a:xfrm>
            <a:off x="145800" y="4137480"/>
            <a:ext cx="365760" cy="354600"/>
            <a:chOff x="145800" y="4137480"/>
            <a:chExt cx="365760" cy="354600"/>
          </a:xfrm>
        </p:grpSpPr>
        <p:sp>
          <p:nvSpPr>
            <p:cNvPr id="115" name="Google Shape;38;p3"/>
            <p:cNvSpPr/>
            <p:nvPr/>
          </p:nvSpPr>
          <p:spPr>
            <a:xfrm>
              <a:off x="145800" y="4149000"/>
              <a:ext cx="342000" cy="34200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6" name="Google Shape;39;p3"/>
            <p:cNvGrpSpPr/>
            <p:nvPr/>
          </p:nvGrpSpPr>
          <p:grpSpPr>
            <a:xfrm>
              <a:off x="146160" y="4137480"/>
              <a:ext cx="365400" cy="354600"/>
              <a:chOff x="146160" y="4137480"/>
              <a:chExt cx="365400" cy="354600"/>
            </a:xfrm>
          </p:grpSpPr>
          <p:sp>
            <p:nvSpPr>
              <p:cNvPr id="117" name="Google Shape;40;p3"/>
              <p:cNvSpPr/>
              <p:nvPr/>
            </p:nvSpPr>
            <p:spPr>
              <a:xfrm>
                <a:off x="169560" y="4137480"/>
                <a:ext cx="342000" cy="342000"/>
              </a:xfrm>
              <a:prstGeom prst="ellipse">
                <a:avLst/>
              </a:pr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 name="Google Shape;41;p3"/>
              <p:cNvSpPr/>
              <p:nvPr/>
            </p:nvSpPr>
            <p:spPr>
              <a:xfrm>
                <a:off x="146160" y="4150080"/>
                <a:ext cx="342000" cy="34200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TITLE_1">
    <p:bg>
      <p:bgPr>
        <a:solidFill>
          <a:schemeClr val="dk2"/>
        </a:solidFill>
        <a:effectLst/>
      </p:bgPr>
    </p:bg>
    <p:spTree>
      <p:nvGrpSpPr>
        <p:cNvPr id="1" name=""/>
        <p:cNvGrpSpPr/>
        <p:nvPr/>
      </p:nvGrpSpPr>
      <p:grpSpPr>
        <a:xfrm>
          <a:off x="0" y="0"/>
          <a:ext cx="0" cy="0"/>
          <a:chOff x="0" y="0"/>
          <a:chExt cx="0" cy="0"/>
        </a:xfrm>
      </p:grpSpPr>
      <p:sp>
        <p:nvSpPr>
          <p:cNvPr id="119" name="PlaceHolder 1"/>
          <p:cNvSpPr>
            <a:spLocks noGrp="1"/>
          </p:cNvSpPr>
          <p:nvPr>
            <p:ph type="title"/>
          </p:nvPr>
        </p:nvSpPr>
        <p:spPr>
          <a:xfrm>
            <a:off x="815400" y="1407960"/>
            <a:ext cx="7512840" cy="1944720"/>
          </a:xfrm>
          <a:prstGeom prst="rect">
            <a:avLst/>
          </a:prstGeom>
          <a:noFill/>
          <a:ln w="0">
            <a:noFill/>
          </a:ln>
        </p:spPr>
        <p:txBody>
          <a:bodyPr lIns="91440" tIns="91440" rIns="91440" bIns="91440" anchor="ctr">
            <a:noAutofit/>
          </a:bodyPr>
          <a:lstStyle/>
          <a:p>
            <a:pPr indent="0">
              <a:buNone/>
            </a:pPr>
            <a:r>
              <a:rPr lang="fr-FR" sz="4500" b="0" u="none" strike="noStrike">
                <a:solidFill>
                  <a:schemeClr val="dk1"/>
                </a:solidFill>
                <a:effectLst/>
                <a:uFillTx/>
                <a:latin typeface="Arial"/>
              </a:rPr>
              <a:t>Click to edit the title text format</a:t>
            </a:r>
          </a:p>
        </p:txBody>
      </p:sp>
      <p:sp>
        <p:nvSpPr>
          <p:cNvPr id="120" name="Google Shape;208;p21"/>
          <p:cNvSpPr/>
          <p:nvPr/>
        </p:nvSpPr>
        <p:spPr>
          <a:xfrm rot="5400000">
            <a:off x="-1866240" y="1013040"/>
            <a:ext cx="4813560" cy="1710000"/>
          </a:xfrm>
          <a:custGeom>
            <a:avLst/>
            <a:gdLst>
              <a:gd name="textAreaLeft" fmla="*/ 0 w 4813560"/>
              <a:gd name="textAreaRight" fmla="*/ 4813920 w 4813560"/>
              <a:gd name="textAreaTop" fmla="*/ 0 h 1710000"/>
              <a:gd name="textAreaBottom" fmla="*/ 1710360 h 1710000"/>
            </a:gdLst>
            <a:ahLst/>
            <a:cxnLst/>
            <a:rect l="textAreaLeft" t="textAreaTop" r="textAreaRight" b="textAreaBottom"/>
            <a:pathLst>
              <a:path w="143993" h="61524">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 name="Google Shape;209;p21"/>
          <p:cNvSpPr/>
          <p:nvPr/>
        </p:nvSpPr>
        <p:spPr>
          <a:xfrm rot="10800000">
            <a:off x="-228960" y="3396960"/>
            <a:ext cx="3675240" cy="1893600"/>
          </a:xfrm>
          <a:custGeom>
            <a:avLst/>
            <a:gdLst>
              <a:gd name="textAreaLeft" fmla="*/ 0 w 3675240"/>
              <a:gd name="textAreaRight" fmla="*/ 3675600 w 3675240"/>
              <a:gd name="textAreaTop" fmla="*/ 0 h 1893600"/>
              <a:gd name="textAreaBottom" fmla="*/ 1893960 h 1893600"/>
            </a:gdLst>
            <a:ahLst/>
            <a:cxnLst/>
            <a:rect l="textAreaLeft" t="textAreaTop" r="textAreaRight" b="textAreaBottom"/>
            <a:pathLst>
              <a:path w="64695" h="36451">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 name="Google Shape;210;p21"/>
          <p:cNvSpPr/>
          <p:nvPr/>
        </p:nvSpPr>
        <p:spPr>
          <a:xfrm rot="21285000" flipH="1">
            <a:off x="-236160" y="4474800"/>
            <a:ext cx="2113920" cy="997200"/>
          </a:xfrm>
          <a:custGeom>
            <a:avLst/>
            <a:gdLst>
              <a:gd name="textAreaLeft" fmla="*/ 360 w 2113920"/>
              <a:gd name="textAreaRight" fmla="*/ 2114640 w 2113920"/>
              <a:gd name="textAreaTop" fmla="*/ 0 h 997200"/>
              <a:gd name="textAreaBottom" fmla="*/ 997560 h 997200"/>
            </a:gdLst>
            <a:ahLst/>
            <a:cxnLst/>
            <a:rect l="textAreaLeft" t="textAreaTop" r="textAreaRight" b="textAreaBottom"/>
            <a:pathLst>
              <a:path w="49839" h="23502">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 name="Google Shape;211;p21"/>
          <p:cNvSpPr/>
          <p:nvPr/>
        </p:nvSpPr>
        <p:spPr>
          <a:xfrm>
            <a:off x="3282840" y="4769280"/>
            <a:ext cx="163080" cy="16308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 name="Google Shape;212;p21"/>
          <p:cNvSpPr/>
          <p:nvPr/>
        </p:nvSpPr>
        <p:spPr>
          <a:xfrm>
            <a:off x="927360" y="4210200"/>
            <a:ext cx="97920" cy="982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34560" bIns="34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 name="Google Shape;213;p21"/>
          <p:cNvSpPr/>
          <p:nvPr/>
        </p:nvSpPr>
        <p:spPr>
          <a:xfrm>
            <a:off x="55440" y="2908440"/>
            <a:ext cx="163080" cy="16308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 name="Google Shape;214;p21"/>
          <p:cNvSpPr/>
          <p:nvPr/>
        </p:nvSpPr>
        <p:spPr>
          <a:xfrm>
            <a:off x="4257000" y="4901760"/>
            <a:ext cx="97920" cy="982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34560" bIns="34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 name="Google Shape;215;p21"/>
          <p:cNvSpPr/>
          <p:nvPr/>
        </p:nvSpPr>
        <p:spPr>
          <a:xfrm>
            <a:off x="1559160" y="3910680"/>
            <a:ext cx="97920" cy="9828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34560" bIns="34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 name="Google Shape;216;p21"/>
          <p:cNvSpPr/>
          <p:nvPr/>
        </p:nvSpPr>
        <p:spPr>
          <a:xfrm rot="16200000">
            <a:off x="6110280" y="2528280"/>
            <a:ext cx="4813560" cy="1710000"/>
          </a:xfrm>
          <a:custGeom>
            <a:avLst/>
            <a:gdLst>
              <a:gd name="textAreaLeft" fmla="*/ 0 w 4813560"/>
              <a:gd name="textAreaRight" fmla="*/ 4813920 w 4813560"/>
              <a:gd name="textAreaTop" fmla="*/ 0 h 1710000"/>
              <a:gd name="textAreaBottom" fmla="*/ 1710360 h 1710000"/>
            </a:gdLst>
            <a:ahLst/>
            <a:cxnLst/>
            <a:rect l="textAreaLeft" t="textAreaTop" r="textAreaRight" b="textAreaBottom"/>
            <a:pathLst>
              <a:path w="143993" h="61524">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 name="Google Shape;217;p21"/>
          <p:cNvSpPr/>
          <p:nvPr/>
        </p:nvSpPr>
        <p:spPr>
          <a:xfrm>
            <a:off x="5744520" y="-169200"/>
            <a:ext cx="3627360" cy="1868760"/>
          </a:xfrm>
          <a:custGeom>
            <a:avLst/>
            <a:gdLst>
              <a:gd name="textAreaLeft" fmla="*/ 0 w 3627360"/>
              <a:gd name="textAreaRight" fmla="*/ 3627720 w 3627360"/>
              <a:gd name="textAreaTop" fmla="*/ 0 h 1868760"/>
              <a:gd name="textAreaBottom" fmla="*/ 1869120 h 1868760"/>
            </a:gdLst>
            <a:ahLst/>
            <a:cxnLst/>
            <a:rect l="textAreaLeft" t="textAreaTop" r="textAreaRight" b="textAreaBottom"/>
            <a:pathLst>
              <a:path w="64695" h="36451">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 name="Google Shape;218;p21"/>
          <p:cNvSpPr/>
          <p:nvPr/>
        </p:nvSpPr>
        <p:spPr>
          <a:xfrm rot="10485000" flipH="1">
            <a:off x="7292880" y="-348120"/>
            <a:ext cx="2086560" cy="983880"/>
          </a:xfrm>
          <a:custGeom>
            <a:avLst/>
            <a:gdLst>
              <a:gd name="textAreaLeft" fmla="*/ 360 w 2086560"/>
              <a:gd name="textAreaRight" fmla="*/ 2087280 w 2086560"/>
              <a:gd name="textAreaTop" fmla="*/ 0 h 983880"/>
              <a:gd name="textAreaBottom" fmla="*/ 984240 h 983880"/>
            </a:gdLst>
            <a:ahLst/>
            <a:cxnLst/>
            <a:rect l="textAreaLeft" t="textAreaTop" r="textAreaRight" b="textAreaBottom"/>
            <a:pathLst>
              <a:path w="49839" h="23502">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 name="Google Shape;219;p21"/>
          <p:cNvSpPr/>
          <p:nvPr/>
        </p:nvSpPr>
        <p:spPr>
          <a:xfrm rot="10800000">
            <a:off x="5635080" y="208440"/>
            <a:ext cx="163080" cy="16308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 name="Google Shape;220;p21"/>
          <p:cNvSpPr/>
          <p:nvPr/>
        </p:nvSpPr>
        <p:spPr>
          <a:xfrm rot="10800000">
            <a:off x="7751160" y="1025280"/>
            <a:ext cx="97920" cy="982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34560" bIns="34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 name="Google Shape;221;p21"/>
          <p:cNvSpPr/>
          <p:nvPr/>
        </p:nvSpPr>
        <p:spPr>
          <a:xfrm rot="10800000">
            <a:off x="8980920" y="1940040"/>
            <a:ext cx="163080" cy="16308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 name="Google Shape;222;p21"/>
          <p:cNvSpPr/>
          <p:nvPr/>
        </p:nvSpPr>
        <p:spPr>
          <a:xfrm rot="10800000">
            <a:off x="4726080" y="140400"/>
            <a:ext cx="97920" cy="982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34560" bIns="34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_AND_BODY">
    <p:bg>
      <p:bgPr>
        <a:blipFill rotWithShape="0">
          <a:blip r:embed="rId2"/>
          <a:stretch/>
        </a:blipFill>
        <a:effectLst/>
      </p:bgPr>
    </p:bg>
    <p:spTree>
      <p:nvGrpSpPr>
        <p:cNvPr id="1" name=""/>
        <p:cNvGrpSpPr/>
        <p:nvPr/>
      </p:nvGrpSpPr>
      <p:grpSpPr>
        <a:xfrm>
          <a:off x="0" y="0"/>
          <a:ext cx="0" cy="0"/>
          <a:chOff x="0" y="0"/>
          <a:chExt cx="0" cy="0"/>
        </a:xfrm>
      </p:grpSpPr>
      <p:sp>
        <p:nvSpPr>
          <p:cNvPr id="135" name="Google Shape;43;p4"/>
          <p:cNvSpPr/>
          <p:nvPr/>
        </p:nvSpPr>
        <p:spPr>
          <a:xfrm>
            <a:off x="336600" y="293400"/>
            <a:ext cx="8470440" cy="4556160"/>
          </a:xfrm>
          <a:prstGeom prst="roundRect">
            <a:avLst>
              <a:gd name="adj" fmla="val 2444"/>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 name="PlaceHolder 1"/>
          <p:cNvSpPr>
            <a:spLocks noGrp="1"/>
          </p:cNvSpPr>
          <p:nvPr>
            <p:ph type="body"/>
          </p:nvPr>
        </p:nvSpPr>
        <p:spPr>
          <a:xfrm>
            <a:off x="753840" y="1084680"/>
            <a:ext cx="7589880" cy="348696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137" name="PlaceHolder 2"/>
          <p:cNvSpPr>
            <a:spLocks noGrp="1"/>
          </p:cNvSpPr>
          <p:nvPr>
            <p:ph type="title"/>
          </p:nvPr>
        </p:nvSpPr>
        <p:spPr>
          <a:xfrm>
            <a:off x="849600" y="420120"/>
            <a:ext cx="7444440" cy="646200"/>
          </a:xfrm>
          <a:prstGeom prst="rect">
            <a:avLst/>
          </a:prstGeom>
          <a:no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blipFill rotWithShape="0">
          <a:blip r:embed="rId2"/>
          <a:stretch/>
        </a:blipFill>
        <a:effectLst/>
      </p:bgPr>
    </p:bg>
    <p:spTree>
      <p:nvGrpSpPr>
        <p:cNvPr id="1" name=""/>
        <p:cNvGrpSpPr/>
        <p:nvPr/>
      </p:nvGrpSpPr>
      <p:grpSpPr>
        <a:xfrm>
          <a:off x="0" y="0"/>
          <a:ext cx="0" cy="0"/>
          <a:chOff x="0" y="0"/>
          <a:chExt cx="0" cy="0"/>
        </a:xfrm>
      </p:grpSpPr>
      <p:sp>
        <p:nvSpPr>
          <p:cNvPr id="138" name="Google Shape;47;p5"/>
          <p:cNvSpPr/>
          <p:nvPr/>
        </p:nvSpPr>
        <p:spPr>
          <a:xfrm>
            <a:off x="336600" y="293400"/>
            <a:ext cx="8470440" cy="4556160"/>
          </a:xfrm>
          <a:prstGeom prst="roundRect">
            <a:avLst>
              <a:gd name="adj" fmla="val 2444"/>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 name="PlaceHolder 1"/>
          <p:cNvSpPr>
            <a:spLocks noGrp="1"/>
          </p:cNvSpPr>
          <p:nvPr>
            <p:ph type="title"/>
          </p:nvPr>
        </p:nvSpPr>
        <p:spPr>
          <a:xfrm>
            <a:off x="1823400" y="2738520"/>
            <a:ext cx="2147760" cy="401400"/>
          </a:xfrm>
          <a:prstGeom prst="rect">
            <a:avLst/>
          </a:prstGeom>
          <a:noFill/>
          <a:ln w="0">
            <a:noFill/>
          </a:ln>
        </p:spPr>
        <p:txBody>
          <a:bodyPr lIns="0" tIns="0" rIns="0" bIns="0" anchor="t">
            <a:noAutofit/>
          </a:bodyPr>
          <a:lstStyle/>
          <a:p>
            <a:pPr indent="0">
              <a:buNone/>
            </a:pPr>
            <a:r>
              <a:rPr lang="fr-FR" sz="1800" b="0" u="none" strike="noStrike">
                <a:solidFill>
                  <a:schemeClr val="dk1"/>
                </a:solidFill>
                <a:effectLst/>
                <a:uFillTx/>
                <a:latin typeface="Arial"/>
              </a:rPr>
              <a:t>Click to edit the title text format</a:t>
            </a:r>
          </a:p>
        </p:txBody>
      </p:sp>
      <p:sp>
        <p:nvSpPr>
          <p:cNvPr id="140" name="PlaceHolder 2"/>
          <p:cNvSpPr>
            <a:spLocks noGrp="1"/>
          </p:cNvSpPr>
          <p:nvPr>
            <p:ph type="title"/>
          </p:nvPr>
        </p:nvSpPr>
        <p:spPr>
          <a:xfrm>
            <a:off x="5039280" y="2738520"/>
            <a:ext cx="2414520" cy="401400"/>
          </a:xfrm>
          <a:prstGeom prst="rect">
            <a:avLst/>
          </a:prstGeom>
          <a:noFill/>
          <a:ln w="0">
            <a:noFill/>
          </a:ln>
        </p:spPr>
        <p:txBody>
          <a:bodyPr lIns="0" tIns="0" rIns="0" bIns="0" anchor="t">
            <a:noAutofit/>
          </a:bodyPr>
          <a:lstStyle/>
          <a:p>
            <a:pPr indent="0">
              <a:buNone/>
            </a:pPr>
            <a:r>
              <a:rPr lang="fr-FR" sz="1800" b="0" u="none" strike="noStrike">
                <a:solidFill>
                  <a:schemeClr val="dk1"/>
                </a:solidFill>
                <a:effectLst/>
                <a:uFillTx/>
                <a:latin typeface="Arial"/>
              </a:rPr>
              <a:t>Click to edit the title text format</a:t>
            </a:r>
          </a:p>
        </p:txBody>
      </p:sp>
      <p:sp>
        <p:nvSpPr>
          <p:cNvPr id="141" name="PlaceHolder 3"/>
          <p:cNvSpPr>
            <a:spLocks noGrp="1"/>
          </p:cNvSpPr>
          <p:nvPr>
            <p:ph type="title"/>
          </p:nvPr>
        </p:nvSpPr>
        <p:spPr>
          <a:xfrm>
            <a:off x="849600" y="420120"/>
            <a:ext cx="7444440" cy="646200"/>
          </a:xfrm>
          <a:prstGeom prst="rect">
            <a:avLst/>
          </a:prstGeom>
          <a:no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_ONLY">
    <p:bg>
      <p:bgPr>
        <a:blipFill rotWithShape="0">
          <a:blip r:embed="rId2"/>
          <a:stretch/>
        </a:blipFill>
        <a:effectLst/>
      </p:bgPr>
    </p:bg>
    <p:spTree>
      <p:nvGrpSpPr>
        <p:cNvPr id="1" name=""/>
        <p:cNvGrpSpPr/>
        <p:nvPr/>
      </p:nvGrpSpPr>
      <p:grpSpPr>
        <a:xfrm>
          <a:off x="0" y="0"/>
          <a:ext cx="0" cy="0"/>
          <a:chOff x="0" y="0"/>
          <a:chExt cx="0" cy="0"/>
        </a:xfrm>
      </p:grpSpPr>
      <p:sp>
        <p:nvSpPr>
          <p:cNvPr id="142" name="Google Shape;54;p6"/>
          <p:cNvSpPr/>
          <p:nvPr/>
        </p:nvSpPr>
        <p:spPr>
          <a:xfrm>
            <a:off x="336600" y="293400"/>
            <a:ext cx="8470440" cy="4556160"/>
          </a:xfrm>
          <a:prstGeom prst="roundRect">
            <a:avLst>
              <a:gd name="adj" fmla="val 2444"/>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 name="PlaceHolder 1"/>
          <p:cNvSpPr>
            <a:spLocks noGrp="1"/>
          </p:cNvSpPr>
          <p:nvPr>
            <p:ph type="title"/>
          </p:nvPr>
        </p:nvSpPr>
        <p:spPr>
          <a:xfrm>
            <a:off x="761400" y="420120"/>
            <a:ext cx="7620840" cy="646200"/>
          </a:xfrm>
          <a:prstGeom prst="rect">
            <a:avLst/>
          </a:prstGeom>
          <a:no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grpSp>
        <p:nvGrpSpPr>
          <p:cNvPr id="144" name="Google Shape;56;p6"/>
          <p:cNvGrpSpPr/>
          <p:nvPr/>
        </p:nvGrpSpPr>
        <p:grpSpPr>
          <a:xfrm>
            <a:off x="510840" y="4665600"/>
            <a:ext cx="350640" cy="340920"/>
            <a:chOff x="510840" y="4665600"/>
            <a:chExt cx="350640" cy="340920"/>
          </a:xfrm>
        </p:grpSpPr>
        <p:sp>
          <p:nvSpPr>
            <p:cNvPr id="145" name="Google Shape;57;p6"/>
            <p:cNvSpPr/>
            <p:nvPr/>
          </p:nvSpPr>
          <p:spPr>
            <a:xfrm>
              <a:off x="533160" y="4665600"/>
              <a:ext cx="328320" cy="32832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 name="Google Shape;58;p6"/>
            <p:cNvSpPr/>
            <p:nvPr/>
          </p:nvSpPr>
          <p:spPr>
            <a:xfrm>
              <a:off x="510840" y="4678200"/>
              <a:ext cx="328320" cy="328320"/>
            </a:xfrm>
            <a:prstGeom prst="ellipse">
              <a:avLst/>
            </a:prstGeom>
            <a:solidFill>
              <a:schemeClr val="accent2"/>
            </a:solid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7" name="Google Shape;59;p6"/>
          <p:cNvGrpSpPr/>
          <p:nvPr/>
        </p:nvGrpSpPr>
        <p:grpSpPr>
          <a:xfrm>
            <a:off x="8316000" y="188640"/>
            <a:ext cx="250560" cy="231120"/>
            <a:chOff x="8316000" y="188640"/>
            <a:chExt cx="250560" cy="231120"/>
          </a:xfrm>
        </p:grpSpPr>
        <p:sp>
          <p:nvSpPr>
            <p:cNvPr id="148" name="Google Shape;60;p6"/>
            <p:cNvSpPr/>
            <p:nvPr/>
          </p:nvSpPr>
          <p:spPr>
            <a:xfrm>
              <a:off x="8316000" y="188640"/>
              <a:ext cx="231120" cy="231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81720" bIns="81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 name="Google Shape;61;p6"/>
            <p:cNvSpPr/>
            <p:nvPr/>
          </p:nvSpPr>
          <p:spPr>
            <a:xfrm>
              <a:off x="8335440" y="188640"/>
              <a:ext cx="231120" cy="23112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81720" bIns="81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ONE_COLUMN_TEXT">
    <p:bg>
      <p:bgPr>
        <a:blipFill rotWithShape="0">
          <a:blip r:embed="rId2"/>
          <a:stretch/>
        </a:blipFill>
        <a:effectLst/>
      </p:bgPr>
    </p:bg>
    <p:spTree>
      <p:nvGrpSpPr>
        <p:cNvPr id="1" name=""/>
        <p:cNvGrpSpPr/>
        <p:nvPr/>
      </p:nvGrpSpPr>
      <p:grpSpPr>
        <a:xfrm>
          <a:off x="0" y="0"/>
          <a:ext cx="0" cy="0"/>
          <a:chOff x="0" y="0"/>
          <a:chExt cx="0" cy="0"/>
        </a:xfrm>
      </p:grpSpPr>
      <p:sp>
        <p:nvSpPr>
          <p:cNvPr id="150" name="Google Shape;63;p7"/>
          <p:cNvSpPr/>
          <p:nvPr/>
        </p:nvSpPr>
        <p:spPr>
          <a:xfrm>
            <a:off x="336600" y="293400"/>
            <a:ext cx="8470440" cy="4556160"/>
          </a:xfrm>
          <a:prstGeom prst="roundRect">
            <a:avLst>
              <a:gd name="adj" fmla="val 2444"/>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 name="PlaceHolder 1"/>
          <p:cNvSpPr>
            <a:spLocks noGrp="1"/>
          </p:cNvSpPr>
          <p:nvPr>
            <p:ph type="title"/>
          </p:nvPr>
        </p:nvSpPr>
        <p:spPr>
          <a:xfrm>
            <a:off x="849600" y="420120"/>
            <a:ext cx="7444440" cy="646200"/>
          </a:xfrm>
          <a:prstGeom prst="rect">
            <a:avLst/>
          </a:prstGeom>
          <a:no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MAIN_POINT">
    <p:bg>
      <p:bgPr>
        <a:blipFill rotWithShape="0">
          <a:blip r:embed="rId2"/>
          <a:stretch/>
        </a:blipFill>
        <a:effectLst/>
      </p:bgPr>
    </p:bg>
    <p:spTree>
      <p:nvGrpSpPr>
        <p:cNvPr id="1" name=""/>
        <p:cNvGrpSpPr/>
        <p:nvPr/>
      </p:nvGrpSpPr>
      <p:grpSpPr>
        <a:xfrm>
          <a:off x="0" y="0"/>
          <a:ext cx="0" cy="0"/>
          <a:chOff x="0" y="0"/>
          <a:chExt cx="0" cy="0"/>
        </a:xfrm>
      </p:grpSpPr>
      <p:sp>
        <p:nvSpPr>
          <p:cNvPr id="152" name="Google Shape;67;p8"/>
          <p:cNvSpPr/>
          <p:nvPr/>
        </p:nvSpPr>
        <p:spPr>
          <a:xfrm>
            <a:off x="336600" y="293400"/>
            <a:ext cx="8470440" cy="4556160"/>
          </a:xfrm>
          <a:prstGeom prst="roundRect">
            <a:avLst>
              <a:gd name="adj" fmla="val 2444"/>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53" name="Google Shape;68;p8"/>
          <p:cNvGrpSpPr/>
          <p:nvPr/>
        </p:nvGrpSpPr>
        <p:grpSpPr>
          <a:xfrm>
            <a:off x="4155120" y="-208080"/>
            <a:ext cx="833400" cy="779040"/>
            <a:chOff x="4155120" y="-208080"/>
            <a:chExt cx="833400" cy="779040"/>
          </a:xfrm>
        </p:grpSpPr>
        <p:sp>
          <p:nvSpPr>
            <p:cNvPr id="154" name="Google Shape;69;p8"/>
            <p:cNvSpPr/>
            <p:nvPr/>
          </p:nvSpPr>
          <p:spPr>
            <a:xfrm>
              <a:off x="4209480" y="-208080"/>
              <a:ext cx="779040" cy="7790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55" name="Google Shape;70;p8"/>
            <p:cNvGrpSpPr/>
            <p:nvPr/>
          </p:nvGrpSpPr>
          <p:grpSpPr>
            <a:xfrm>
              <a:off x="4155120" y="-208080"/>
              <a:ext cx="833400" cy="779040"/>
              <a:chOff x="4155120" y="-208080"/>
              <a:chExt cx="833400" cy="779040"/>
            </a:xfrm>
          </p:grpSpPr>
          <p:sp>
            <p:nvSpPr>
              <p:cNvPr id="156" name="Google Shape;71;p8"/>
              <p:cNvSpPr/>
              <p:nvPr/>
            </p:nvSpPr>
            <p:spPr>
              <a:xfrm>
                <a:off x="4155120" y="-208080"/>
                <a:ext cx="779040" cy="779040"/>
              </a:xfrm>
              <a:prstGeom prst="ellipse">
                <a:avLst/>
              </a:pr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 name="Google Shape;72;p8"/>
              <p:cNvSpPr/>
              <p:nvPr/>
            </p:nvSpPr>
            <p:spPr>
              <a:xfrm>
                <a:off x="4209480" y="-208080"/>
                <a:ext cx="779040" cy="77904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58" name="Google Shape;73;p8"/>
          <p:cNvSpPr/>
          <p:nvPr/>
        </p:nvSpPr>
        <p:spPr>
          <a:xfrm rot="19260600">
            <a:off x="4419000" y="4465800"/>
            <a:ext cx="659880" cy="659880"/>
          </a:xfrm>
          <a:prstGeom prst="ellipse">
            <a:avLst/>
          </a:pr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 name="Google Shape;74;p8"/>
          <p:cNvSpPr/>
          <p:nvPr/>
        </p:nvSpPr>
        <p:spPr>
          <a:xfrm rot="19260600">
            <a:off x="4403520" y="4446720"/>
            <a:ext cx="659880" cy="65988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 name="Google Shape;75;p8"/>
          <p:cNvSpPr/>
          <p:nvPr/>
        </p:nvSpPr>
        <p:spPr>
          <a:xfrm rot="19262400">
            <a:off x="4222080" y="4653000"/>
            <a:ext cx="255960" cy="2559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 name="Google Shape;76;p8"/>
          <p:cNvSpPr/>
          <p:nvPr/>
        </p:nvSpPr>
        <p:spPr>
          <a:xfrm rot="19261800">
            <a:off x="5259240" y="4609440"/>
            <a:ext cx="384120" cy="384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 name="Google Shape;77;p8"/>
          <p:cNvSpPr/>
          <p:nvPr/>
        </p:nvSpPr>
        <p:spPr>
          <a:xfrm rot="19261800">
            <a:off x="5281200" y="4591440"/>
            <a:ext cx="384120" cy="38412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 name="Google Shape;78;p8"/>
          <p:cNvSpPr/>
          <p:nvPr/>
        </p:nvSpPr>
        <p:spPr>
          <a:xfrm rot="19262400">
            <a:off x="4198680" y="4643280"/>
            <a:ext cx="255960" cy="255960"/>
          </a:xfrm>
          <a:prstGeom prst="ellipse">
            <a:avLst/>
          </a:prstGeom>
          <a:noFill/>
          <a:ln w="19050">
            <a:solidFill>
              <a:srgbClr val="000000"/>
            </a:solidFill>
            <a:round/>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 name="PlaceHolder 1"/>
          <p:cNvSpPr>
            <a:spLocks noGrp="1"/>
          </p:cNvSpPr>
          <p:nvPr>
            <p:ph type="title"/>
          </p:nvPr>
        </p:nvSpPr>
        <p:spPr>
          <a:xfrm>
            <a:off x="1636560" y="1337400"/>
            <a:ext cx="5870520" cy="2229840"/>
          </a:xfrm>
          <a:prstGeom prst="rect">
            <a:avLst/>
          </a:prstGeom>
          <a:noFill/>
          <a:ln w="0">
            <a:noFill/>
          </a:ln>
        </p:spPr>
        <p:txBody>
          <a:bodyPr lIns="91440" tIns="91440" rIns="91440" bIns="91440" anchor="t">
            <a:noAutofit/>
          </a:bodyPr>
          <a:lstStyle/>
          <a:p>
            <a:pPr indent="0">
              <a:buNone/>
            </a:pPr>
            <a:r>
              <a:rPr lang="fr-FR" sz="72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blipFill rotWithShape="0">
          <a:blip r:embed="rId2"/>
          <a:stretch/>
        </a:blipFill>
        <a:effectLst/>
      </p:bgPr>
    </p:bg>
    <p:spTree>
      <p:nvGrpSpPr>
        <p:cNvPr id="1" name=""/>
        <p:cNvGrpSpPr/>
        <p:nvPr/>
      </p:nvGrpSpPr>
      <p:grpSpPr>
        <a:xfrm>
          <a:off x="0" y="0"/>
          <a:ext cx="0" cy="0"/>
          <a:chOff x="0" y="0"/>
          <a:chExt cx="0" cy="0"/>
        </a:xfrm>
      </p:grpSpPr>
      <p:sp>
        <p:nvSpPr>
          <p:cNvPr id="165" name="Google Shape;81;p9"/>
          <p:cNvSpPr/>
          <p:nvPr/>
        </p:nvSpPr>
        <p:spPr>
          <a:xfrm>
            <a:off x="336600" y="293400"/>
            <a:ext cx="8470440" cy="4556160"/>
          </a:xfrm>
          <a:prstGeom prst="roundRect">
            <a:avLst>
              <a:gd name="adj" fmla="val 2444"/>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 name="PlaceHolder 1"/>
          <p:cNvSpPr>
            <a:spLocks noGrp="1"/>
          </p:cNvSpPr>
          <p:nvPr>
            <p:ph type="title"/>
          </p:nvPr>
        </p:nvSpPr>
        <p:spPr>
          <a:xfrm>
            <a:off x="1933920" y="716760"/>
            <a:ext cx="5276160" cy="1395720"/>
          </a:xfrm>
          <a:prstGeom prst="rect">
            <a:avLst/>
          </a:prstGeom>
          <a:noFill/>
          <a:ln w="0">
            <a:noFill/>
          </a:ln>
        </p:spPr>
        <p:txBody>
          <a:bodyPr lIns="91440" tIns="91440" rIns="91440" bIns="91440" anchor="b">
            <a:noAutofit/>
          </a:bodyPr>
          <a:lstStyle/>
          <a:p>
            <a:pPr indent="0">
              <a:buNone/>
            </a:pPr>
            <a:r>
              <a:rPr lang="fr-FR" sz="34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dk2"/>
        </a:solidFill>
        <a:effectLst/>
      </p:bgPr>
    </p:bg>
    <p:spTree>
      <p:nvGrpSpPr>
        <p:cNvPr id="1" name=""/>
        <p:cNvGrpSpPr/>
        <p:nvPr/>
      </p:nvGrpSpPr>
      <p:grpSpPr>
        <a:xfrm>
          <a:off x="0" y="0"/>
          <a:ext cx="0" cy="0"/>
          <a:chOff x="0" y="0"/>
          <a:chExt cx="0" cy="0"/>
        </a:xfrm>
      </p:grpSpPr>
      <p:sp>
        <p:nvSpPr>
          <p:cNvPr id="167" name="Google Shape;85;p10"/>
          <p:cNvSpPr/>
          <p:nvPr/>
        </p:nvSpPr>
        <p:spPr>
          <a:xfrm>
            <a:off x="336600" y="293400"/>
            <a:ext cx="8470440" cy="4556160"/>
          </a:xfrm>
          <a:prstGeom prst="roundRect">
            <a:avLst>
              <a:gd name="adj" fmla="val 2444"/>
            </a:avLst>
          </a:prstGeom>
          <a:noFill/>
          <a:ln w="19050">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 name="PlaceHolder 1"/>
          <p:cNvSpPr>
            <a:spLocks noGrp="1"/>
          </p:cNvSpPr>
          <p:nvPr>
            <p:ph type="body"/>
          </p:nvPr>
        </p:nvSpPr>
        <p:spPr>
          <a:xfrm>
            <a:off x="2060640" y="460800"/>
            <a:ext cx="3686760" cy="7675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20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20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20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169" name="Google Shape;228;p24"/>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70"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171" name="Google Shape;231;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72"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73"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theme" Target="../theme/theme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microsoft.com/office/2007/relationships/hdphoto" Target="../media/hdphoto2.wdp"/></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462161" y="181268"/>
            <a:ext cx="7515000" cy="1275840"/>
          </a:xfrm>
          <a:prstGeom prst="rect">
            <a:avLst/>
          </a:prstGeom>
          <a:noFill/>
          <a:ln w="0">
            <a:noFill/>
          </a:ln>
        </p:spPr>
        <p:txBody>
          <a:bodyPr lIns="91440" tIns="91440" rIns="91440" bIns="91440" anchor="ctr">
            <a:normAutofit/>
          </a:bodyPr>
          <a:lstStyle/>
          <a:p>
            <a:pPr>
              <a:lnSpc>
                <a:spcPct val="125000"/>
              </a:lnSpc>
              <a:tabLst>
                <a:tab pos="0" algn="l"/>
              </a:tabLst>
            </a:pPr>
            <a:r>
              <a:rPr lang="fr-FR" sz="3600" b="0" u="none" strike="noStrike" dirty="0">
                <a:solidFill>
                  <a:schemeClr val="dk1"/>
                </a:solidFill>
                <a:effectLst/>
                <a:uFillTx/>
                <a:latin typeface="Nirmala Text Semilight" panose="020B0402040204020203" pitchFamily="34" charset="0"/>
                <a:ea typeface="Nirmala Text Semilight" panose="020B0402040204020203" pitchFamily="34" charset="0"/>
                <a:cs typeface="Nirmala Text Semilight" panose="020B0402040204020203" pitchFamily="34" charset="0"/>
              </a:rPr>
              <a:t>2 Stage Miller </a:t>
            </a:r>
            <a:r>
              <a:rPr lang="en-US" sz="3600" dirty="0">
                <a:latin typeface="Nirmala Text Semilight" panose="020B0402040204020203" pitchFamily="34" charset="0"/>
                <a:ea typeface="Nirmala Text Semilight" panose="020B0402040204020203" pitchFamily="34" charset="0"/>
                <a:cs typeface="Nirmala Text Semilight" panose="020B0402040204020203" pitchFamily="34" charset="0"/>
              </a:rPr>
              <a:t>Compensated </a:t>
            </a:r>
            <a:r>
              <a:rPr lang="fr-FR" sz="3600" b="0" u="none" strike="noStrike" dirty="0">
                <a:solidFill>
                  <a:schemeClr val="dk1"/>
                </a:solidFill>
                <a:effectLst/>
                <a:uFillTx/>
                <a:latin typeface="Nirmala Text Semilight" panose="020B0402040204020203" pitchFamily="34" charset="0"/>
                <a:ea typeface="Nirmala Text Semilight" panose="020B0402040204020203" pitchFamily="34" charset="0"/>
                <a:cs typeface="Nirmala Text Semilight" panose="020B0402040204020203" pitchFamily="34" charset="0"/>
              </a:rPr>
              <a:t>OTA</a:t>
            </a:r>
          </a:p>
        </p:txBody>
      </p:sp>
      <p:sp>
        <p:nvSpPr>
          <p:cNvPr id="175" name="PlaceHolder 2"/>
          <p:cNvSpPr>
            <a:spLocks noGrp="1"/>
          </p:cNvSpPr>
          <p:nvPr>
            <p:ph type="subTitle"/>
          </p:nvPr>
        </p:nvSpPr>
        <p:spPr>
          <a:xfrm>
            <a:off x="462161" y="1115122"/>
            <a:ext cx="7098366" cy="282498"/>
          </a:xfrm>
          <a:prstGeom prst="rect">
            <a:avLst/>
          </a:prstGeom>
          <a:noFill/>
          <a:ln w="0">
            <a:noFill/>
          </a:ln>
        </p:spPr>
        <p:txBody>
          <a:bodyPr lIns="91440" tIns="91440" rIns="91440" bIns="91440" anchor="ctr">
            <a:noAutofit/>
          </a:bodyPr>
          <a:lstStyle/>
          <a:p>
            <a:pPr>
              <a:lnSpc>
                <a:spcPct val="100000"/>
              </a:lnSpc>
              <a:tabLst>
                <a:tab pos="0" algn="l"/>
              </a:tabLst>
            </a:pPr>
            <a:r>
              <a:rPr lang="en-US" sz="1200" dirty="0">
                <a:latin typeface="Nirmala Text Semilight" panose="020B0402040204020203" pitchFamily="34" charset="0"/>
                <a:ea typeface="Nirmala Text Semilight" panose="020B0402040204020203" pitchFamily="34" charset="0"/>
                <a:cs typeface="Nirmala Text Semilight" panose="020B0402040204020203" pitchFamily="34" charset="0"/>
              </a:rPr>
              <a:t>Design and Analysis of a 2-Stage OTA in 180 nm TSMC Technology using </a:t>
            </a:r>
            <a:r>
              <a:rPr lang="en-US" sz="1200" dirty="0" err="1">
                <a:latin typeface="Nirmala Text Semilight" panose="020B0402040204020203" pitchFamily="34" charset="0"/>
                <a:ea typeface="Nirmala Text Semilight" panose="020B0402040204020203" pitchFamily="34" charset="0"/>
                <a:cs typeface="Nirmala Text Semilight" panose="020B0402040204020203" pitchFamily="34" charset="0"/>
              </a:rPr>
              <a:t>LTspice</a:t>
            </a:r>
            <a:endParaRPr lang="en-US" sz="1200" b="0" u="none" strike="noStrike" dirty="0">
              <a:solidFill>
                <a:srgbClr val="000000"/>
              </a:solidFill>
              <a:effectLst/>
              <a:uFillTx/>
              <a:latin typeface="Nirmala Text Semilight" panose="020B0402040204020203" pitchFamily="34" charset="0"/>
              <a:ea typeface="Nirmala Text Semilight" panose="020B0402040204020203" pitchFamily="34" charset="0"/>
              <a:cs typeface="Nirmala Text Semilight" panose="020B0402040204020203" pitchFamily="34" charset="0"/>
            </a:endParaRPr>
          </a:p>
        </p:txBody>
      </p:sp>
      <p:sp>
        <p:nvSpPr>
          <p:cNvPr id="2" name="TextBox 1">
            <a:extLst>
              <a:ext uri="{FF2B5EF4-FFF2-40B4-BE49-F238E27FC236}">
                <a16:creationId xmlns:a16="http://schemas.microsoft.com/office/drawing/2014/main" id="{16F02646-3E35-1580-A4E2-CB2F930FB05A}"/>
              </a:ext>
            </a:extLst>
          </p:cNvPr>
          <p:cNvSpPr txBox="1"/>
          <p:nvPr/>
        </p:nvSpPr>
        <p:spPr>
          <a:xfrm>
            <a:off x="609600" y="1889148"/>
            <a:ext cx="2475571" cy="1323439"/>
          </a:xfrm>
          <a:prstGeom prst="rect">
            <a:avLst/>
          </a:prstGeom>
          <a:noFill/>
        </p:spPr>
        <p:txBody>
          <a:bodyPr wrap="square" rtlCol="0">
            <a:spAutoFit/>
          </a:bodyPr>
          <a:lstStyle/>
          <a:p>
            <a:r>
              <a:rPr lang="en-US" sz="1600" b="1" dirty="0">
                <a:latin typeface="Nirmala Text Semilight" panose="020B0402040204020203" pitchFamily="34" charset="0"/>
                <a:ea typeface="Nirmala Text Semilight" panose="020B0402040204020203" pitchFamily="34" charset="0"/>
                <a:cs typeface="Nirmala Text Semilight" panose="020B0402040204020203" pitchFamily="34" charset="0"/>
              </a:rPr>
              <a:t>Mentees</a:t>
            </a:r>
          </a:p>
          <a:p>
            <a:endParaRPr lang="en-US" sz="1600" b="1" dirty="0">
              <a:latin typeface="Nirmala Text Semilight" panose="020B0402040204020203" pitchFamily="34" charset="0"/>
              <a:ea typeface="Nirmala Text Semilight" panose="020B0402040204020203" pitchFamily="34" charset="0"/>
              <a:cs typeface="Nirmala Text Semilight" panose="020B0402040204020203" pitchFamily="34" charset="0"/>
            </a:endParaRPr>
          </a:p>
          <a:p>
            <a:r>
              <a:rPr lang="en-US" sz="1600" dirty="0">
                <a:latin typeface="Nirmala Text Semilight" panose="020B0402040204020203" pitchFamily="34" charset="0"/>
                <a:ea typeface="Nirmala Text Semilight" panose="020B0402040204020203" pitchFamily="34" charset="0"/>
                <a:cs typeface="Nirmala Text Semilight" panose="020B0402040204020203" pitchFamily="34" charset="0"/>
              </a:rPr>
              <a:t>Sai Easwar, Aarav Balaji, Vishva, Pratham, Suhail</a:t>
            </a:r>
          </a:p>
          <a:p>
            <a:endParaRPr lang="en-US" sz="1600" b="1" dirty="0">
              <a:latin typeface="Nirmala Text Semilight" panose="020B0402040204020203" pitchFamily="34" charset="0"/>
              <a:ea typeface="Nirmala Text Semilight" panose="020B0402040204020203" pitchFamily="34" charset="0"/>
              <a:cs typeface="Nirmala Text Semilight" panose="020B0402040204020203" pitchFamily="34" charset="0"/>
            </a:endParaRPr>
          </a:p>
        </p:txBody>
      </p:sp>
      <p:sp>
        <p:nvSpPr>
          <p:cNvPr id="4" name="TextBox 3">
            <a:extLst>
              <a:ext uri="{FF2B5EF4-FFF2-40B4-BE49-F238E27FC236}">
                <a16:creationId xmlns:a16="http://schemas.microsoft.com/office/drawing/2014/main" id="{87B3D5B1-F050-6570-DAEC-93C7D67F67BC}"/>
              </a:ext>
            </a:extLst>
          </p:cNvPr>
          <p:cNvSpPr txBox="1"/>
          <p:nvPr/>
        </p:nvSpPr>
        <p:spPr>
          <a:xfrm>
            <a:off x="3218985" y="1889148"/>
            <a:ext cx="2222810" cy="1569660"/>
          </a:xfrm>
          <a:prstGeom prst="rect">
            <a:avLst/>
          </a:prstGeom>
          <a:noFill/>
        </p:spPr>
        <p:txBody>
          <a:bodyPr wrap="square" rtlCol="0">
            <a:spAutoFit/>
          </a:bodyPr>
          <a:lstStyle/>
          <a:p>
            <a:r>
              <a:rPr lang="en-US" sz="1600" b="1" dirty="0">
                <a:latin typeface="Nirmala Text Semilight" panose="020B0402040204020203" pitchFamily="34" charset="0"/>
                <a:ea typeface="Nirmala Text Semilight" panose="020B0402040204020203" pitchFamily="34" charset="0"/>
                <a:cs typeface="Nirmala Text Semilight" panose="020B0402040204020203" pitchFamily="34" charset="0"/>
              </a:rPr>
              <a:t>Mentors</a:t>
            </a:r>
          </a:p>
          <a:p>
            <a:endParaRPr lang="en-US" sz="1600" b="1" dirty="0">
              <a:latin typeface="Nirmala Text Semilight" panose="020B0402040204020203" pitchFamily="34" charset="0"/>
              <a:ea typeface="Nirmala Text Semilight" panose="020B0402040204020203" pitchFamily="34" charset="0"/>
              <a:cs typeface="Nirmala Text Semilight" panose="020B0402040204020203" pitchFamily="34" charset="0"/>
            </a:endParaRPr>
          </a:p>
          <a:p>
            <a:r>
              <a:rPr lang="en-US" sz="1600" dirty="0">
                <a:latin typeface="Nirmala Text Semilight" panose="020B0402040204020203" pitchFamily="34" charset="0"/>
                <a:ea typeface="Nirmala Text Semilight" panose="020B0402040204020203" pitchFamily="34" charset="0"/>
                <a:cs typeface="Nirmala Text Semilight" panose="020B0402040204020203" pitchFamily="34" charset="0"/>
              </a:rPr>
              <a:t>Garvit, Kaustubh, Rakesh ,Mohnish</a:t>
            </a:r>
          </a:p>
          <a:p>
            <a:pPr marL="285750" indent="-285750">
              <a:buFont typeface="Arial" panose="020B0604020202020204" pitchFamily="34" charset="0"/>
              <a:buChar char="•"/>
            </a:pPr>
            <a:endParaRPr lang="en-US" sz="1600" dirty="0">
              <a:latin typeface="Nirmala Text Semilight" panose="020B0402040204020203" pitchFamily="34" charset="0"/>
              <a:ea typeface="Nirmala Text Semilight" panose="020B0402040204020203" pitchFamily="34" charset="0"/>
              <a:cs typeface="Nirmala Text Semilight" panose="020B0402040204020203" pitchFamily="34" charset="0"/>
            </a:endParaRPr>
          </a:p>
          <a:p>
            <a:endParaRPr lang="en-US" sz="1600" dirty="0">
              <a:latin typeface="Nirmala Text Semilight" panose="020B0402040204020203" pitchFamily="34" charset="0"/>
              <a:ea typeface="Nirmala Text Semilight" panose="020B0402040204020203" pitchFamily="34" charset="0"/>
              <a:cs typeface="Nirmala Text Semilight" panose="020B0402040204020203" pitchFamily="34" charset="0"/>
            </a:endParaRPr>
          </a:p>
        </p:txBody>
      </p:sp>
      <p:sp>
        <p:nvSpPr>
          <p:cNvPr id="5" name="TextBox 4">
            <a:extLst>
              <a:ext uri="{FF2B5EF4-FFF2-40B4-BE49-F238E27FC236}">
                <a16:creationId xmlns:a16="http://schemas.microsoft.com/office/drawing/2014/main" id="{BB9E8329-8302-6D5D-27DA-E876744D1464}"/>
              </a:ext>
            </a:extLst>
          </p:cNvPr>
          <p:cNvSpPr txBox="1"/>
          <p:nvPr/>
        </p:nvSpPr>
        <p:spPr>
          <a:xfrm>
            <a:off x="462161" y="4028378"/>
            <a:ext cx="2920376" cy="369332"/>
          </a:xfrm>
          <a:prstGeom prst="rect">
            <a:avLst/>
          </a:prstGeom>
          <a:noFill/>
        </p:spPr>
        <p:txBody>
          <a:bodyPr wrap="square" rtlCol="0">
            <a:spAutoFit/>
          </a:bodyPr>
          <a:lstStyle/>
          <a:p>
            <a:r>
              <a:rPr lang="en-US" dirty="0">
                <a:latin typeface="Bahnschrift Light" panose="020B0502040204020203" pitchFamily="34" charset="0"/>
              </a:rPr>
              <a:t>NITK </a:t>
            </a:r>
            <a:r>
              <a:rPr lang="en-US" dirty="0" err="1">
                <a:latin typeface="Bahnschrift Light" panose="020B0502040204020203" pitchFamily="34" charset="0"/>
              </a:rPr>
              <a:t>Surathkal</a:t>
            </a:r>
            <a:r>
              <a:rPr lang="en-US" dirty="0">
                <a:latin typeface="Bahnschrift Light" panose="020B0502040204020203" pitchFamily="34" charset="0"/>
              </a:rPr>
              <a:t> | 2026</a:t>
            </a: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F7CF8C77-2704-1A99-1DEB-7405B8E95EC3}"/>
              </a:ext>
            </a:extLst>
          </p:cNvPr>
          <p:cNvSpPr>
            <a:spLocks noGrp="1"/>
          </p:cNvSpPr>
          <p:nvPr>
            <p:ph type="body"/>
          </p:nvPr>
        </p:nvSpPr>
        <p:spPr>
          <a:xfrm>
            <a:off x="650486" y="981577"/>
            <a:ext cx="7548937" cy="833781"/>
          </a:xfrm>
        </p:spPr>
        <p:txBody>
          <a:bodyPr/>
          <a:lstStyle/>
          <a:p>
            <a:pPr>
              <a:lnSpc>
                <a:spcPct val="150000"/>
              </a:lnSpc>
            </a:pPr>
            <a:r>
              <a:rPr lang="en-US" sz="1600" b="1" u="sng" dirty="0">
                <a:latin typeface="Nirmala Text Semilight" panose="020B0402040204020203" pitchFamily="34" charset="0"/>
                <a:ea typeface="Nirmala Text Semilight" panose="020B0402040204020203" pitchFamily="34" charset="0"/>
                <a:cs typeface="Nirmala Text Semilight" panose="020B0402040204020203" pitchFamily="34" charset="0"/>
              </a:rPr>
              <a:t>Goal</a:t>
            </a:r>
          </a:p>
          <a:p>
            <a:r>
              <a:rPr lang="en-US" sz="1600" dirty="0">
                <a:latin typeface="Nirmala Text Semilight" panose="020B0402040204020203" pitchFamily="34" charset="0"/>
                <a:ea typeface="Nirmala Text Semilight" panose="020B0402040204020203" pitchFamily="34" charset="0"/>
                <a:cs typeface="Nirmala Text Semilight" panose="020B0402040204020203" pitchFamily="34" charset="0"/>
              </a:rPr>
              <a:t>To design a two-stage Miller compensated OTA in 180 nm CMOS technology and compare its performance with single-stage and uncompensated two-stage OTAs to demonstrate the improvement in gain and stability.</a:t>
            </a:r>
          </a:p>
        </p:txBody>
      </p:sp>
      <p:sp>
        <p:nvSpPr>
          <p:cNvPr id="6" name="TextBox 5">
            <a:extLst>
              <a:ext uri="{FF2B5EF4-FFF2-40B4-BE49-F238E27FC236}">
                <a16:creationId xmlns:a16="http://schemas.microsoft.com/office/drawing/2014/main" id="{210DFCC0-96A7-9CEB-B5B8-C54A65BD132E}"/>
              </a:ext>
            </a:extLst>
          </p:cNvPr>
          <p:cNvSpPr txBox="1"/>
          <p:nvPr/>
        </p:nvSpPr>
        <p:spPr>
          <a:xfrm>
            <a:off x="631901" y="2093917"/>
            <a:ext cx="7634868" cy="338554"/>
          </a:xfrm>
          <a:prstGeom prst="rect">
            <a:avLst/>
          </a:prstGeom>
          <a:noFill/>
        </p:spPr>
        <p:txBody>
          <a:bodyPr wrap="square" rtlCol="0">
            <a:spAutoFit/>
          </a:bodyPr>
          <a:lstStyle/>
          <a:p>
            <a:r>
              <a:rPr lang="en-US" sz="1600" b="1" u="sng" dirty="0">
                <a:latin typeface="Nirmala Text Semilight" panose="020B0402040204020203" pitchFamily="34" charset="0"/>
                <a:ea typeface="Nirmala Text Semilight" panose="020B0402040204020203" pitchFamily="34" charset="0"/>
                <a:cs typeface="Nirmala Text Semilight" panose="020B0402040204020203" pitchFamily="34" charset="0"/>
              </a:rPr>
              <a:t>Key Challenges Solved</a:t>
            </a:r>
          </a:p>
        </p:txBody>
      </p:sp>
      <p:sp>
        <p:nvSpPr>
          <p:cNvPr id="9" name="Flowchart: Alternate Process 8">
            <a:extLst>
              <a:ext uri="{FF2B5EF4-FFF2-40B4-BE49-F238E27FC236}">
                <a16:creationId xmlns:a16="http://schemas.microsoft.com/office/drawing/2014/main" id="{5D6BC074-6EA8-EDBF-9FE9-A59174EBD4C1}"/>
              </a:ext>
            </a:extLst>
          </p:cNvPr>
          <p:cNvSpPr/>
          <p:nvPr/>
        </p:nvSpPr>
        <p:spPr>
          <a:xfrm>
            <a:off x="650486" y="2711030"/>
            <a:ext cx="1895707" cy="1637946"/>
          </a:xfrm>
          <a:prstGeom prst="flowChartAlternateProcess">
            <a:avLst/>
          </a:prstGeom>
          <a:noFill/>
          <a:ln>
            <a:solidFill>
              <a:schemeClr val="tx1"/>
            </a:solidFill>
            <a:extLst>
              <a:ext uri="{C807C97D-BFC1-408E-A445-0C87EB9F89A2}">
                <ask:lineSketchStyleProps xmlns:ask="http://schemas.microsoft.com/office/drawing/2018/sketchyshapes" sd="3351900267">
                  <a:custGeom>
                    <a:avLst/>
                    <a:gdLst>
                      <a:gd name="csX0" fmla="*/ 0 w 1895707"/>
                      <a:gd name="csY0" fmla="*/ 195766 h 1174596"/>
                      <a:gd name="csX1" fmla="*/ 195766 w 1895707"/>
                      <a:gd name="csY1" fmla="*/ 0 h 1174596"/>
                      <a:gd name="csX2" fmla="*/ 712199 w 1895707"/>
                      <a:gd name="csY2" fmla="*/ 0 h 1174596"/>
                      <a:gd name="csX3" fmla="*/ 1243675 w 1895707"/>
                      <a:gd name="csY3" fmla="*/ 0 h 1174596"/>
                      <a:gd name="csX4" fmla="*/ 1699941 w 1895707"/>
                      <a:gd name="csY4" fmla="*/ 0 h 1174596"/>
                      <a:gd name="csX5" fmla="*/ 1895707 w 1895707"/>
                      <a:gd name="csY5" fmla="*/ 195766 h 1174596"/>
                      <a:gd name="csX6" fmla="*/ 1895707 w 1895707"/>
                      <a:gd name="csY6" fmla="*/ 595129 h 1174596"/>
                      <a:gd name="csX7" fmla="*/ 1895707 w 1895707"/>
                      <a:gd name="csY7" fmla="*/ 978830 h 1174596"/>
                      <a:gd name="csX8" fmla="*/ 1699941 w 1895707"/>
                      <a:gd name="csY8" fmla="*/ 1174596 h 1174596"/>
                      <a:gd name="csX9" fmla="*/ 1228633 w 1895707"/>
                      <a:gd name="csY9" fmla="*/ 1174596 h 1174596"/>
                      <a:gd name="csX10" fmla="*/ 772366 w 1895707"/>
                      <a:gd name="csY10" fmla="*/ 1174596 h 1174596"/>
                      <a:gd name="csX11" fmla="*/ 195766 w 1895707"/>
                      <a:gd name="csY11" fmla="*/ 1174596 h 1174596"/>
                      <a:gd name="csX12" fmla="*/ 0 w 1895707"/>
                      <a:gd name="csY12" fmla="*/ 978830 h 1174596"/>
                      <a:gd name="csX13" fmla="*/ 0 w 1895707"/>
                      <a:gd name="csY13" fmla="*/ 602959 h 1174596"/>
                      <a:gd name="csX14" fmla="*/ 0 w 1895707"/>
                      <a:gd name="csY14" fmla="*/ 195766 h 117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895707" h="1174596" extrusionOk="0">
                        <a:moveTo>
                          <a:pt x="0" y="195766"/>
                        </a:moveTo>
                        <a:cubicBezTo>
                          <a:pt x="-18750" y="68196"/>
                          <a:pt x="105648" y="19723"/>
                          <a:pt x="195766" y="0"/>
                        </a:cubicBezTo>
                        <a:cubicBezTo>
                          <a:pt x="302561" y="-25732"/>
                          <a:pt x="497184" y="-14872"/>
                          <a:pt x="712199" y="0"/>
                        </a:cubicBezTo>
                        <a:cubicBezTo>
                          <a:pt x="927214" y="14872"/>
                          <a:pt x="1008741" y="11800"/>
                          <a:pt x="1243675" y="0"/>
                        </a:cubicBezTo>
                        <a:cubicBezTo>
                          <a:pt x="1478609" y="-11800"/>
                          <a:pt x="1542531" y="8377"/>
                          <a:pt x="1699941" y="0"/>
                        </a:cubicBezTo>
                        <a:cubicBezTo>
                          <a:pt x="1802775" y="-1648"/>
                          <a:pt x="1886154" y="86330"/>
                          <a:pt x="1895707" y="195766"/>
                        </a:cubicBezTo>
                        <a:cubicBezTo>
                          <a:pt x="1882227" y="393730"/>
                          <a:pt x="1878736" y="401597"/>
                          <a:pt x="1895707" y="595129"/>
                        </a:cubicBezTo>
                        <a:cubicBezTo>
                          <a:pt x="1912678" y="788661"/>
                          <a:pt x="1902952" y="845246"/>
                          <a:pt x="1895707" y="978830"/>
                        </a:cubicBezTo>
                        <a:cubicBezTo>
                          <a:pt x="1902106" y="1088038"/>
                          <a:pt x="1817286" y="1175005"/>
                          <a:pt x="1699941" y="1174596"/>
                        </a:cubicBezTo>
                        <a:cubicBezTo>
                          <a:pt x="1503723" y="1169836"/>
                          <a:pt x="1330452" y="1177454"/>
                          <a:pt x="1228633" y="1174596"/>
                        </a:cubicBezTo>
                        <a:cubicBezTo>
                          <a:pt x="1126814" y="1171738"/>
                          <a:pt x="968317" y="1160962"/>
                          <a:pt x="772366" y="1174596"/>
                        </a:cubicBezTo>
                        <a:cubicBezTo>
                          <a:pt x="576415" y="1188230"/>
                          <a:pt x="420059" y="1200805"/>
                          <a:pt x="195766" y="1174596"/>
                        </a:cubicBezTo>
                        <a:cubicBezTo>
                          <a:pt x="92865" y="1175635"/>
                          <a:pt x="-3057" y="1097449"/>
                          <a:pt x="0" y="978830"/>
                        </a:cubicBezTo>
                        <a:cubicBezTo>
                          <a:pt x="-12211" y="838526"/>
                          <a:pt x="-14972" y="713698"/>
                          <a:pt x="0" y="602959"/>
                        </a:cubicBezTo>
                        <a:cubicBezTo>
                          <a:pt x="14972" y="492220"/>
                          <a:pt x="8003" y="293555"/>
                          <a:pt x="0" y="195766"/>
                        </a:cubicBezTo>
                        <a:close/>
                      </a:path>
                    </a:pathLst>
                  </a:custGeom>
                  <ask:type>
                    <ask:lineSketchNone/>
                  </ask:type>
                </ask:lineSketchStyleProps>
              </a:ext>
            </a:extLst>
          </a:ln>
          <a:effectLst>
            <a:glow rad="101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lowchart: Alternate Process 10">
            <a:extLst>
              <a:ext uri="{FF2B5EF4-FFF2-40B4-BE49-F238E27FC236}">
                <a16:creationId xmlns:a16="http://schemas.microsoft.com/office/drawing/2014/main" id="{C2F6EFC2-8357-5CA0-8EB3-40C9CE77DF9D}"/>
              </a:ext>
            </a:extLst>
          </p:cNvPr>
          <p:cNvSpPr/>
          <p:nvPr/>
        </p:nvSpPr>
        <p:spPr>
          <a:xfrm>
            <a:off x="2702312" y="2711030"/>
            <a:ext cx="1895707" cy="1637946"/>
          </a:xfrm>
          <a:prstGeom prst="flowChartAlternateProcess">
            <a:avLst/>
          </a:prstGeom>
          <a:noFill/>
          <a:ln>
            <a:solidFill>
              <a:schemeClr val="tx1"/>
            </a:solidFill>
            <a:extLst>
              <a:ext uri="{C807C97D-BFC1-408E-A445-0C87EB9F89A2}">
                <ask:lineSketchStyleProps xmlns:ask="http://schemas.microsoft.com/office/drawing/2018/sketchyshapes" sd="3351900267">
                  <a:custGeom>
                    <a:avLst/>
                    <a:gdLst>
                      <a:gd name="csX0" fmla="*/ 0 w 1895707"/>
                      <a:gd name="csY0" fmla="*/ 195766 h 1174596"/>
                      <a:gd name="csX1" fmla="*/ 195766 w 1895707"/>
                      <a:gd name="csY1" fmla="*/ 0 h 1174596"/>
                      <a:gd name="csX2" fmla="*/ 712199 w 1895707"/>
                      <a:gd name="csY2" fmla="*/ 0 h 1174596"/>
                      <a:gd name="csX3" fmla="*/ 1243675 w 1895707"/>
                      <a:gd name="csY3" fmla="*/ 0 h 1174596"/>
                      <a:gd name="csX4" fmla="*/ 1699941 w 1895707"/>
                      <a:gd name="csY4" fmla="*/ 0 h 1174596"/>
                      <a:gd name="csX5" fmla="*/ 1895707 w 1895707"/>
                      <a:gd name="csY5" fmla="*/ 195766 h 1174596"/>
                      <a:gd name="csX6" fmla="*/ 1895707 w 1895707"/>
                      <a:gd name="csY6" fmla="*/ 595129 h 1174596"/>
                      <a:gd name="csX7" fmla="*/ 1895707 w 1895707"/>
                      <a:gd name="csY7" fmla="*/ 978830 h 1174596"/>
                      <a:gd name="csX8" fmla="*/ 1699941 w 1895707"/>
                      <a:gd name="csY8" fmla="*/ 1174596 h 1174596"/>
                      <a:gd name="csX9" fmla="*/ 1228633 w 1895707"/>
                      <a:gd name="csY9" fmla="*/ 1174596 h 1174596"/>
                      <a:gd name="csX10" fmla="*/ 772366 w 1895707"/>
                      <a:gd name="csY10" fmla="*/ 1174596 h 1174596"/>
                      <a:gd name="csX11" fmla="*/ 195766 w 1895707"/>
                      <a:gd name="csY11" fmla="*/ 1174596 h 1174596"/>
                      <a:gd name="csX12" fmla="*/ 0 w 1895707"/>
                      <a:gd name="csY12" fmla="*/ 978830 h 1174596"/>
                      <a:gd name="csX13" fmla="*/ 0 w 1895707"/>
                      <a:gd name="csY13" fmla="*/ 602959 h 1174596"/>
                      <a:gd name="csX14" fmla="*/ 0 w 1895707"/>
                      <a:gd name="csY14" fmla="*/ 195766 h 117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895707" h="1174596" extrusionOk="0">
                        <a:moveTo>
                          <a:pt x="0" y="195766"/>
                        </a:moveTo>
                        <a:cubicBezTo>
                          <a:pt x="-18750" y="68196"/>
                          <a:pt x="105648" y="19723"/>
                          <a:pt x="195766" y="0"/>
                        </a:cubicBezTo>
                        <a:cubicBezTo>
                          <a:pt x="302561" y="-25732"/>
                          <a:pt x="497184" y="-14872"/>
                          <a:pt x="712199" y="0"/>
                        </a:cubicBezTo>
                        <a:cubicBezTo>
                          <a:pt x="927214" y="14872"/>
                          <a:pt x="1008741" y="11800"/>
                          <a:pt x="1243675" y="0"/>
                        </a:cubicBezTo>
                        <a:cubicBezTo>
                          <a:pt x="1478609" y="-11800"/>
                          <a:pt x="1542531" y="8377"/>
                          <a:pt x="1699941" y="0"/>
                        </a:cubicBezTo>
                        <a:cubicBezTo>
                          <a:pt x="1802775" y="-1648"/>
                          <a:pt x="1886154" y="86330"/>
                          <a:pt x="1895707" y="195766"/>
                        </a:cubicBezTo>
                        <a:cubicBezTo>
                          <a:pt x="1882227" y="393730"/>
                          <a:pt x="1878736" y="401597"/>
                          <a:pt x="1895707" y="595129"/>
                        </a:cubicBezTo>
                        <a:cubicBezTo>
                          <a:pt x="1912678" y="788661"/>
                          <a:pt x="1902952" y="845246"/>
                          <a:pt x="1895707" y="978830"/>
                        </a:cubicBezTo>
                        <a:cubicBezTo>
                          <a:pt x="1902106" y="1088038"/>
                          <a:pt x="1817286" y="1175005"/>
                          <a:pt x="1699941" y="1174596"/>
                        </a:cubicBezTo>
                        <a:cubicBezTo>
                          <a:pt x="1503723" y="1169836"/>
                          <a:pt x="1330452" y="1177454"/>
                          <a:pt x="1228633" y="1174596"/>
                        </a:cubicBezTo>
                        <a:cubicBezTo>
                          <a:pt x="1126814" y="1171738"/>
                          <a:pt x="968317" y="1160962"/>
                          <a:pt x="772366" y="1174596"/>
                        </a:cubicBezTo>
                        <a:cubicBezTo>
                          <a:pt x="576415" y="1188230"/>
                          <a:pt x="420059" y="1200805"/>
                          <a:pt x="195766" y="1174596"/>
                        </a:cubicBezTo>
                        <a:cubicBezTo>
                          <a:pt x="92865" y="1175635"/>
                          <a:pt x="-3057" y="1097449"/>
                          <a:pt x="0" y="978830"/>
                        </a:cubicBezTo>
                        <a:cubicBezTo>
                          <a:pt x="-12211" y="838526"/>
                          <a:pt x="-14972" y="713698"/>
                          <a:pt x="0" y="602959"/>
                        </a:cubicBezTo>
                        <a:cubicBezTo>
                          <a:pt x="14972" y="492220"/>
                          <a:pt x="8003" y="293555"/>
                          <a:pt x="0" y="195766"/>
                        </a:cubicBezTo>
                        <a:close/>
                      </a:path>
                    </a:pathLst>
                  </a:custGeom>
                  <ask:type>
                    <ask:lineSketchNone/>
                  </ask:type>
                </ask:lineSketchStyleProps>
              </a:ext>
            </a:extLst>
          </a:ln>
          <a:effectLst>
            <a:glow rad="101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lowchart: Alternate Process 11">
            <a:extLst>
              <a:ext uri="{FF2B5EF4-FFF2-40B4-BE49-F238E27FC236}">
                <a16:creationId xmlns:a16="http://schemas.microsoft.com/office/drawing/2014/main" id="{10D7380C-ED54-F57D-88FF-5DA259484798}"/>
              </a:ext>
            </a:extLst>
          </p:cNvPr>
          <p:cNvSpPr/>
          <p:nvPr/>
        </p:nvSpPr>
        <p:spPr>
          <a:xfrm>
            <a:off x="4733716" y="2718531"/>
            <a:ext cx="1895707" cy="1610183"/>
          </a:xfrm>
          <a:prstGeom prst="flowChartAlternateProcess">
            <a:avLst/>
          </a:prstGeom>
          <a:noFill/>
          <a:ln>
            <a:solidFill>
              <a:schemeClr val="tx1"/>
            </a:solidFill>
            <a:extLst>
              <a:ext uri="{C807C97D-BFC1-408E-A445-0C87EB9F89A2}">
                <ask:lineSketchStyleProps xmlns:ask="http://schemas.microsoft.com/office/drawing/2018/sketchyshapes" sd="3351900267">
                  <a:custGeom>
                    <a:avLst/>
                    <a:gdLst>
                      <a:gd name="csX0" fmla="*/ 0 w 1895707"/>
                      <a:gd name="csY0" fmla="*/ 195766 h 1174596"/>
                      <a:gd name="csX1" fmla="*/ 195766 w 1895707"/>
                      <a:gd name="csY1" fmla="*/ 0 h 1174596"/>
                      <a:gd name="csX2" fmla="*/ 712199 w 1895707"/>
                      <a:gd name="csY2" fmla="*/ 0 h 1174596"/>
                      <a:gd name="csX3" fmla="*/ 1243675 w 1895707"/>
                      <a:gd name="csY3" fmla="*/ 0 h 1174596"/>
                      <a:gd name="csX4" fmla="*/ 1699941 w 1895707"/>
                      <a:gd name="csY4" fmla="*/ 0 h 1174596"/>
                      <a:gd name="csX5" fmla="*/ 1895707 w 1895707"/>
                      <a:gd name="csY5" fmla="*/ 195766 h 1174596"/>
                      <a:gd name="csX6" fmla="*/ 1895707 w 1895707"/>
                      <a:gd name="csY6" fmla="*/ 595129 h 1174596"/>
                      <a:gd name="csX7" fmla="*/ 1895707 w 1895707"/>
                      <a:gd name="csY7" fmla="*/ 978830 h 1174596"/>
                      <a:gd name="csX8" fmla="*/ 1699941 w 1895707"/>
                      <a:gd name="csY8" fmla="*/ 1174596 h 1174596"/>
                      <a:gd name="csX9" fmla="*/ 1228633 w 1895707"/>
                      <a:gd name="csY9" fmla="*/ 1174596 h 1174596"/>
                      <a:gd name="csX10" fmla="*/ 772366 w 1895707"/>
                      <a:gd name="csY10" fmla="*/ 1174596 h 1174596"/>
                      <a:gd name="csX11" fmla="*/ 195766 w 1895707"/>
                      <a:gd name="csY11" fmla="*/ 1174596 h 1174596"/>
                      <a:gd name="csX12" fmla="*/ 0 w 1895707"/>
                      <a:gd name="csY12" fmla="*/ 978830 h 1174596"/>
                      <a:gd name="csX13" fmla="*/ 0 w 1895707"/>
                      <a:gd name="csY13" fmla="*/ 602959 h 1174596"/>
                      <a:gd name="csX14" fmla="*/ 0 w 1895707"/>
                      <a:gd name="csY14" fmla="*/ 195766 h 117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895707" h="1174596" extrusionOk="0">
                        <a:moveTo>
                          <a:pt x="0" y="195766"/>
                        </a:moveTo>
                        <a:cubicBezTo>
                          <a:pt x="-18750" y="68196"/>
                          <a:pt x="105648" y="19723"/>
                          <a:pt x="195766" y="0"/>
                        </a:cubicBezTo>
                        <a:cubicBezTo>
                          <a:pt x="302561" y="-25732"/>
                          <a:pt x="497184" y="-14872"/>
                          <a:pt x="712199" y="0"/>
                        </a:cubicBezTo>
                        <a:cubicBezTo>
                          <a:pt x="927214" y="14872"/>
                          <a:pt x="1008741" y="11800"/>
                          <a:pt x="1243675" y="0"/>
                        </a:cubicBezTo>
                        <a:cubicBezTo>
                          <a:pt x="1478609" y="-11800"/>
                          <a:pt x="1542531" y="8377"/>
                          <a:pt x="1699941" y="0"/>
                        </a:cubicBezTo>
                        <a:cubicBezTo>
                          <a:pt x="1802775" y="-1648"/>
                          <a:pt x="1886154" y="86330"/>
                          <a:pt x="1895707" y="195766"/>
                        </a:cubicBezTo>
                        <a:cubicBezTo>
                          <a:pt x="1882227" y="393730"/>
                          <a:pt x="1878736" y="401597"/>
                          <a:pt x="1895707" y="595129"/>
                        </a:cubicBezTo>
                        <a:cubicBezTo>
                          <a:pt x="1912678" y="788661"/>
                          <a:pt x="1902952" y="845246"/>
                          <a:pt x="1895707" y="978830"/>
                        </a:cubicBezTo>
                        <a:cubicBezTo>
                          <a:pt x="1902106" y="1088038"/>
                          <a:pt x="1817286" y="1175005"/>
                          <a:pt x="1699941" y="1174596"/>
                        </a:cubicBezTo>
                        <a:cubicBezTo>
                          <a:pt x="1503723" y="1169836"/>
                          <a:pt x="1330452" y="1177454"/>
                          <a:pt x="1228633" y="1174596"/>
                        </a:cubicBezTo>
                        <a:cubicBezTo>
                          <a:pt x="1126814" y="1171738"/>
                          <a:pt x="968317" y="1160962"/>
                          <a:pt x="772366" y="1174596"/>
                        </a:cubicBezTo>
                        <a:cubicBezTo>
                          <a:pt x="576415" y="1188230"/>
                          <a:pt x="420059" y="1200805"/>
                          <a:pt x="195766" y="1174596"/>
                        </a:cubicBezTo>
                        <a:cubicBezTo>
                          <a:pt x="92865" y="1175635"/>
                          <a:pt x="-3057" y="1097449"/>
                          <a:pt x="0" y="978830"/>
                        </a:cubicBezTo>
                        <a:cubicBezTo>
                          <a:pt x="-12211" y="838526"/>
                          <a:pt x="-14972" y="713698"/>
                          <a:pt x="0" y="602959"/>
                        </a:cubicBezTo>
                        <a:cubicBezTo>
                          <a:pt x="14972" y="492220"/>
                          <a:pt x="8003" y="293555"/>
                          <a:pt x="0" y="195766"/>
                        </a:cubicBezTo>
                        <a:close/>
                      </a:path>
                    </a:pathLst>
                  </a:custGeom>
                  <ask:type>
                    <ask:lineSketchNone/>
                  </ask:type>
                </ask:lineSketchStyleProps>
              </a:ext>
            </a:extLst>
          </a:ln>
          <a:effectLst>
            <a:glow rad="101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lowchart: Alternate Process 12">
            <a:extLst>
              <a:ext uri="{FF2B5EF4-FFF2-40B4-BE49-F238E27FC236}">
                <a16:creationId xmlns:a16="http://schemas.microsoft.com/office/drawing/2014/main" id="{1C2B5AE9-39CD-9262-15A5-4C4509304CC3}"/>
              </a:ext>
            </a:extLst>
          </p:cNvPr>
          <p:cNvSpPr/>
          <p:nvPr/>
        </p:nvSpPr>
        <p:spPr>
          <a:xfrm>
            <a:off x="6759503" y="2711030"/>
            <a:ext cx="1895707" cy="1610184"/>
          </a:xfrm>
          <a:prstGeom prst="flowChartAlternateProcess">
            <a:avLst/>
          </a:prstGeom>
          <a:noFill/>
          <a:ln>
            <a:solidFill>
              <a:schemeClr val="tx1"/>
            </a:solidFill>
            <a:extLst>
              <a:ext uri="{C807C97D-BFC1-408E-A445-0C87EB9F89A2}">
                <ask:lineSketchStyleProps xmlns:ask="http://schemas.microsoft.com/office/drawing/2018/sketchyshapes" sd="3351900267">
                  <a:custGeom>
                    <a:avLst/>
                    <a:gdLst>
                      <a:gd name="csX0" fmla="*/ 0 w 1895707"/>
                      <a:gd name="csY0" fmla="*/ 195766 h 1174596"/>
                      <a:gd name="csX1" fmla="*/ 195766 w 1895707"/>
                      <a:gd name="csY1" fmla="*/ 0 h 1174596"/>
                      <a:gd name="csX2" fmla="*/ 712199 w 1895707"/>
                      <a:gd name="csY2" fmla="*/ 0 h 1174596"/>
                      <a:gd name="csX3" fmla="*/ 1243675 w 1895707"/>
                      <a:gd name="csY3" fmla="*/ 0 h 1174596"/>
                      <a:gd name="csX4" fmla="*/ 1699941 w 1895707"/>
                      <a:gd name="csY4" fmla="*/ 0 h 1174596"/>
                      <a:gd name="csX5" fmla="*/ 1895707 w 1895707"/>
                      <a:gd name="csY5" fmla="*/ 195766 h 1174596"/>
                      <a:gd name="csX6" fmla="*/ 1895707 w 1895707"/>
                      <a:gd name="csY6" fmla="*/ 595129 h 1174596"/>
                      <a:gd name="csX7" fmla="*/ 1895707 w 1895707"/>
                      <a:gd name="csY7" fmla="*/ 978830 h 1174596"/>
                      <a:gd name="csX8" fmla="*/ 1699941 w 1895707"/>
                      <a:gd name="csY8" fmla="*/ 1174596 h 1174596"/>
                      <a:gd name="csX9" fmla="*/ 1228633 w 1895707"/>
                      <a:gd name="csY9" fmla="*/ 1174596 h 1174596"/>
                      <a:gd name="csX10" fmla="*/ 772366 w 1895707"/>
                      <a:gd name="csY10" fmla="*/ 1174596 h 1174596"/>
                      <a:gd name="csX11" fmla="*/ 195766 w 1895707"/>
                      <a:gd name="csY11" fmla="*/ 1174596 h 1174596"/>
                      <a:gd name="csX12" fmla="*/ 0 w 1895707"/>
                      <a:gd name="csY12" fmla="*/ 978830 h 1174596"/>
                      <a:gd name="csX13" fmla="*/ 0 w 1895707"/>
                      <a:gd name="csY13" fmla="*/ 602959 h 1174596"/>
                      <a:gd name="csX14" fmla="*/ 0 w 1895707"/>
                      <a:gd name="csY14" fmla="*/ 195766 h 11745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895707" h="1174596" extrusionOk="0">
                        <a:moveTo>
                          <a:pt x="0" y="195766"/>
                        </a:moveTo>
                        <a:cubicBezTo>
                          <a:pt x="-18750" y="68196"/>
                          <a:pt x="105648" y="19723"/>
                          <a:pt x="195766" y="0"/>
                        </a:cubicBezTo>
                        <a:cubicBezTo>
                          <a:pt x="302561" y="-25732"/>
                          <a:pt x="497184" y="-14872"/>
                          <a:pt x="712199" y="0"/>
                        </a:cubicBezTo>
                        <a:cubicBezTo>
                          <a:pt x="927214" y="14872"/>
                          <a:pt x="1008741" y="11800"/>
                          <a:pt x="1243675" y="0"/>
                        </a:cubicBezTo>
                        <a:cubicBezTo>
                          <a:pt x="1478609" y="-11800"/>
                          <a:pt x="1542531" y="8377"/>
                          <a:pt x="1699941" y="0"/>
                        </a:cubicBezTo>
                        <a:cubicBezTo>
                          <a:pt x="1802775" y="-1648"/>
                          <a:pt x="1886154" y="86330"/>
                          <a:pt x="1895707" y="195766"/>
                        </a:cubicBezTo>
                        <a:cubicBezTo>
                          <a:pt x="1882227" y="393730"/>
                          <a:pt x="1878736" y="401597"/>
                          <a:pt x="1895707" y="595129"/>
                        </a:cubicBezTo>
                        <a:cubicBezTo>
                          <a:pt x="1912678" y="788661"/>
                          <a:pt x="1902952" y="845246"/>
                          <a:pt x="1895707" y="978830"/>
                        </a:cubicBezTo>
                        <a:cubicBezTo>
                          <a:pt x="1902106" y="1088038"/>
                          <a:pt x="1817286" y="1175005"/>
                          <a:pt x="1699941" y="1174596"/>
                        </a:cubicBezTo>
                        <a:cubicBezTo>
                          <a:pt x="1503723" y="1169836"/>
                          <a:pt x="1330452" y="1177454"/>
                          <a:pt x="1228633" y="1174596"/>
                        </a:cubicBezTo>
                        <a:cubicBezTo>
                          <a:pt x="1126814" y="1171738"/>
                          <a:pt x="968317" y="1160962"/>
                          <a:pt x="772366" y="1174596"/>
                        </a:cubicBezTo>
                        <a:cubicBezTo>
                          <a:pt x="576415" y="1188230"/>
                          <a:pt x="420059" y="1200805"/>
                          <a:pt x="195766" y="1174596"/>
                        </a:cubicBezTo>
                        <a:cubicBezTo>
                          <a:pt x="92865" y="1175635"/>
                          <a:pt x="-3057" y="1097449"/>
                          <a:pt x="0" y="978830"/>
                        </a:cubicBezTo>
                        <a:cubicBezTo>
                          <a:pt x="-12211" y="838526"/>
                          <a:pt x="-14972" y="713698"/>
                          <a:pt x="0" y="602959"/>
                        </a:cubicBezTo>
                        <a:cubicBezTo>
                          <a:pt x="14972" y="492220"/>
                          <a:pt x="8003" y="293555"/>
                          <a:pt x="0" y="195766"/>
                        </a:cubicBezTo>
                        <a:close/>
                      </a:path>
                    </a:pathLst>
                  </a:custGeom>
                  <ask:type>
                    <ask:lineSketchNone/>
                  </ask:type>
                </ask:lineSketchStyleProps>
              </a:ext>
            </a:extLst>
          </a:ln>
          <a:effectLst>
            <a:glow rad="101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3A5A6ACC-FE23-E831-6C2C-E721C2C85906}"/>
              </a:ext>
            </a:extLst>
          </p:cNvPr>
          <p:cNvSpPr txBox="1"/>
          <p:nvPr/>
        </p:nvSpPr>
        <p:spPr>
          <a:xfrm>
            <a:off x="741552" y="2778169"/>
            <a:ext cx="1726581" cy="1384995"/>
          </a:xfrm>
          <a:prstGeom prst="rect">
            <a:avLst/>
          </a:prstGeom>
          <a:noFill/>
        </p:spPr>
        <p:txBody>
          <a:bodyPr wrap="square" rtlCol="0">
            <a:spAutoFit/>
          </a:bodyPr>
          <a:lstStyle/>
          <a:p>
            <a:r>
              <a:rPr lang="en-US" sz="1200" b="1" dirty="0">
                <a:latin typeface="Nirmala Text Semilight" panose="020B0402040204020203" pitchFamily="34" charset="0"/>
                <a:ea typeface="Nirmala Text Semilight" panose="020B0402040204020203" pitchFamily="34" charset="0"/>
                <a:cs typeface="Nirmala Text Semilight" panose="020B0402040204020203" pitchFamily="34" charset="0"/>
              </a:rPr>
              <a:t>Achieving high voltage gain:</a:t>
            </a:r>
            <a:br>
              <a:rPr lang="en-US" sz="1200" dirty="0">
                <a:latin typeface="Nirmala Text Semilight" panose="020B0402040204020203" pitchFamily="34" charset="0"/>
                <a:ea typeface="Nirmala Text Semilight" panose="020B0402040204020203" pitchFamily="34" charset="0"/>
                <a:cs typeface="Nirmala Text Semilight" panose="020B0402040204020203" pitchFamily="34" charset="0"/>
              </a:rPr>
            </a:br>
            <a:r>
              <a:rPr lang="en-US" sz="1200" dirty="0">
                <a:latin typeface="Nirmala Text Semilight" panose="020B0402040204020203" pitchFamily="34" charset="0"/>
                <a:ea typeface="Nirmala Text Semilight" panose="020B0402040204020203" pitchFamily="34" charset="0"/>
                <a:cs typeface="Nirmala Text Semilight" panose="020B0402040204020203" pitchFamily="34" charset="0"/>
              </a:rPr>
              <a:t>High gain often requires multiple amplification stages, which increases circuit complexity.</a:t>
            </a:r>
          </a:p>
        </p:txBody>
      </p:sp>
      <p:sp>
        <p:nvSpPr>
          <p:cNvPr id="17" name="TextBox 16">
            <a:extLst>
              <a:ext uri="{FF2B5EF4-FFF2-40B4-BE49-F238E27FC236}">
                <a16:creationId xmlns:a16="http://schemas.microsoft.com/office/drawing/2014/main" id="{B9E859AF-F89A-442A-13B1-64633051D2F1}"/>
              </a:ext>
            </a:extLst>
          </p:cNvPr>
          <p:cNvSpPr txBox="1"/>
          <p:nvPr/>
        </p:nvSpPr>
        <p:spPr>
          <a:xfrm>
            <a:off x="2787804" y="2778169"/>
            <a:ext cx="1784196" cy="1384995"/>
          </a:xfrm>
          <a:prstGeom prst="rect">
            <a:avLst/>
          </a:prstGeom>
          <a:noFill/>
        </p:spPr>
        <p:txBody>
          <a:bodyPr wrap="square" rtlCol="0">
            <a:spAutoFit/>
          </a:bodyPr>
          <a:lstStyle/>
          <a:p>
            <a:r>
              <a:rPr lang="en-US" sz="1200" b="1" dirty="0">
                <a:latin typeface="Nirmala Text Semilight" panose="020B0402040204020203" pitchFamily="34" charset="0"/>
                <a:ea typeface="Nirmala Text Semilight" panose="020B0402040204020203" pitchFamily="34" charset="0"/>
                <a:cs typeface="Nirmala Text Semilight" panose="020B0402040204020203" pitchFamily="34" charset="0"/>
              </a:rPr>
              <a:t>Introduction of multiple high-frequency poles:</a:t>
            </a:r>
            <a:br>
              <a:rPr lang="en-US" sz="1200" dirty="0">
                <a:latin typeface="Nirmala Text Semilight" panose="020B0402040204020203" pitchFamily="34" charset="0"/>
                <a:ea typeface="Nirmala Text Semilight" panose="020B0402040204020203" pitchFamily="34" charset="0"/>
                <a:cs typeface="Nirmala Text Semilight" panose="020B0402040204020203" pitchFamily="34" charset="0"/>
              </a:rPr>
            </a:br>
            <a:r>
              <a:rPr lang="en-US" sz="1200" dirty="0">
                <a:latin typeface="Nirmala Text Semilight" panose="020B0402040204020203" pitchFamily="34" charset="0"/>
                <a:ea typeface="Nirmala Text Semilight" panose="020B0402040204020203" pitchFamily="34" charset="0"/>
                <a:cs typeface="Nirmala Text Semilight" panose="020B0402040204020203" pitchFamily="34" charset="0"/>
              </a:rPr>
              <a:t>Additional gain stages create extra poles in the frequency response that can interact with each other.</a:t>
            </a:r>
          </a:p>
        </p:txBody>
      </p:sp>
      <p:sp>
        <p:nvSpPr>
          <p:cNvPr id="18" name="TextBox 17">
            <a:extLst>
              <a:ext uri="{FF2B5EF4-FFF2-40B4-BE49-F238E27FC236}">
                <a16:creationId xmlns:a16="http://schemas.microsoft.com/office/drawing/2014/main" id="{58F78E3C-3939-EF9B-8718-9DAF1501FEBC}"/>
              </a:ext>
            </a:extLst>
          </p:cNvPr>
          <p:cNvSpPr txBox="1"/>
          <p:nvPr/>
        </p:nvSpPr>
        <p:spPr>
          <a:xfrm>
            <a:off x="4847069" y="2775736"/>
            <a:ext cx="1724716" cy="1384995"/>
          </a:xfrm>
          <a:prstGeom prst="rect">
            <a:avLst/>
          </a:prstGeom>
          <a:noFill/>
        </p:spPr>
        <p:txBody>
          <a:bodyPr wrap="square" rtlCol="0">
            <a:spAutoFit/>
          </a:bodyPr>
          <a:lstStyle/>
          <a:p>
            <a:r>
              <a:rPr lang="en-US" sz="1200" b="1" dirty="0">
                <a:latin typeface="Nirmala Text Semilight" panose="020B0402040204020203" pitchFamily="34" charset="0"/>
                <a:ea typeface="Nirmala Text Semilight" panose="020B0402040204020203" pitchFamily="34" charset="0"/>
                <a:cs typeface="Nirmala Text Semilight" panose="020B0402040204020203" pitchFamily="34" charset="0"/>
              </a:rPr>
              <a:t>Reduced stability and phase margin:</a:t>
            </a:r>
            <a:br>
              <a:rPr lang="en-US" sz="1200" dirty="0">
                <a:latin typeface="Nirmala Text Semilight" panose="020B0402040204020203" pitchFamily="34" charset="0"/>
                <a:ea typeface="Nirmala Text Semilight" panose="020B0402040204020203" pitchFamily="34" charset="0"/>
                <a:cs typeface="Nirmala Text Semilight" panose="020B0402040204020203" pitchFamily="34" charset="0"/>
              </a:rPr>
            </a:br>
            <a:r>
              <a:rPr lang="en-US" sz="1200" dirty="0">
                <a:latin typeface="Nirmala Text Semilight" panose="020B0402040204020203" pitchFamily="34" charset="0"/>
                <a:ea typeface="Nirmala Text Semilight" panose="020B0402040204020203" pitchFamily="34" charset="0"/>
                <a:cs typeface="Nirmala Text Semilight" panose="020B0402040204020203" pitchFamily="34" charset="0"/>
              </a:rPr>
              <a:t>Improper pole placement can lead to poor phase margin, causing instability or oscillations.</a:t>
            </a:r>
          </a:p>
        </p:txBody>
      </p:sp>
      <p:sp>
        <p:nvSpPr>
          <p:cNvPr id="19" name="TextBox 18">
            <a:extLst>
              <a:ext uri="{FF2B5EF4-FFF2-40B4-BE49-F238E27FC236}">
                <a16:creationId xmlns:a16="http://schemas.microsoft.com/office/drawing/2014/main" id="{1C07AED6-30F3-F42B-3B7A-F6A9104650C8}"/>
              </a:ext>
            </a:extLst>
          </p:cNvPr>
          <p:cNvSpPr txBox="1"/>
          <p:nvPr/>
        </p:nvSpPr>
        <p:spPr>
          <a:xfrm>
            <a:off x="6843154" y="2775736"/>
            <a:ext cx="1812056" cy="1384995"/>
          </a:xfrm>
          <a:prstGeom prst="rect">
            <a:avLst/>
          </a:prstGeom>
          <a:noFill/>
        </p:spPr>
        <p:txBody>
          <a:bodyPr wrap="square" rtlCol="0">
            <a:spAutoFit/>
          </a:bodyPr>
          <a:lstStyle/>
          <a:p>
            <a:r>
              <a:rPr lang="en-US" sz="1200" b="1" dirty="0">
                <a:latin typeface="Nirmala Text Semilight" panose="020B0402040204020203" pitchFamily="34" charset="0"/>
                <a:ea typeface="Nirmala Text Semilight" panose="020B0402040204020203" pitchFamily="34" charset="0"/>
                <a:cs typeface="Nirmala Text Semilight" panose="020B0402040204020203" pitchFamily="34" charset="0"/>
              </a:rPr>
              <a:t>Ensuring a stable frequency response:</a:t>
            </a:r>
            <a:br>
              <a:rPr lang="en-US" sz="1200" dirty="0">
                <a:latin typeface="Nirmala Text Semilight" panose="020B0402040204020203" pitchFamily="34" charset="0"/>
                <a:ea typeface="Nirmala Text Semilight" panose="020B0402040204020203" pitchFamily="34" charset="0"/>
                <a:cs typeface="Nirmala Text Semilight" panose="020B0402040204020203" pitchFamily="34" charset="0"/>
              </a:rPr>
            </a:br>
            <a:r>
              <a:rPr lang="en-US" sz="1200" dirty="0">
                <a:latin typeface="Nirmala Text Semilight" panose="020B0402040204020203" pitchFamily="34" charset="0"/>
                <a:ea typeface="Nirmala Text Semilight" panose="020B0402040204020203" pitchFamily="34" charset="0"/>
                <a:cs typeface="Nirmala Text Semilight" panose="020B0402040204020203" pitchFamily="34" charset="0"/>
              </a:rPr>
              <a:t>Proper compensation is required to control pole locations and maintain stability while preserving bandwidth.</a:t>
            </a:r>
          </a:p>
        </p:txBody>
      </p:sp>
    </p:spTree>
    <p:extLst>
      <p:ext uri="{BB962C8B-B14F-4D97-AF65-F5344CB8AC3E}">
        <p14:creationId xmlns:p14="http://schemas.microsoft.com/office/powerpoint/2010/main" val="2049576273"/>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1933560" y="416312"/>
            <a:ext cx="5276520" cy="639337"/>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US" sz="3400" b="0" u="none" strike="noStrike" dirty="0">
                <a:solidFill>
                  <a:schemeClr val="dk1"/>
                </a:solidFill>
                <a:effectLst/>
                <a:uFillTx/>
                <a:latin typeface="Arapey"/>
                <a:ea typeface="Arapey"/>
              </a:rPr>
              <a:t>Introduction</a:t>
            </a:r>
            <a:endParaRPr lang="fr-FR" sz="3400" b="0" u="none" strike="noStrike" dirty="0">
              <a:solidFill>
                <a:schemeClr val="dk1"/>
              </a:solidFill>
              <a:effectLst/>
              <a:uFillTx/>
              <a:latin typeface="Arial"/>
            </a:endParaRPr>
          </a:p>
        </p:txBody>
      </p:sp>
      <p:sp>
        <p:nvSpPr>
          <p:cNvPr id="177" name="PlaceHolder 2"/>
          <p:cNvSpPr>
            <a:spLocks noGrp="1"/>
          </p:cNvSpPr>
          <p:nvPr>
            <p:ph type="subTitle"/>
          </p:nvPr>
        </p:nvSpPr>
        <p:spPr>
          <a:xfrm>
            <a:off x="788019" y="1152293"/>
            <a:ext cx="7567961" cy="2334322"/>
          </a:xfrm>
          <a:prstGeom prst="rect">
            <a:avLst/>
          </a:prstGeom>
          <a:noFill/>
          <a:ln w="0">
            <a:noFill/>
          </a:ln>
        </p:spPr>
        <p:txBody>
          <a:bodyPr lIns="91440" tIns="91440" rIns="91440" bIns="91440" anchor="t">
            <a:normAutofit/>
          </a:bodyPr>
          <a:lstStyle/>
          <a:p>
            <a:pPr>
              <a:lnSpc>
                <a:spcPct val="150000"/>
              </a:lnSpc>
              <a:tabLst>
                <a:tab pos="0" algn="l"/>
              </a:tabLst>
            </a:pPr>
            <a:r>
              <a:rPr lang="en-US" sz="1400" dirty="0">
                <a:solidFill>
                  <a:srgbClr val="000000"/>
                </a:solidFill>
                <a:latin typeface="OpenSymbol"/>
              </a:rPr>
              <a:t>An Operational Transconductance Amplifier (OTA) is a fundamental analog building block that converts an input differential voltage into an output current. OTAs are widely used in analog integrated circuits such as filters, data converters, comparators, and analog signal processing systems.</a:t>
            </a:r>
            <a:endParaRPr lang="en-US" sz="1400" b="0" u="none" strike="noStrike" dirty="0">
              <a:solidFill>
                <a:srgbClr val="000000"/>
              </a:solidFill>
              <a:effectLst/>
              <a:uFillTx/>
              <a:latin typeface="OpenSymbol"/>
            </a:endParaRPr>
          </a:p>
        </p:txBody>
      </p:sp>
      <p:sp>
        <p:nvSpPr>
          <p:cNvPr id="6" name="AutoShape 8">
            <a:extLst>
              <a:ext uri="{FF2B5EF4-FFF2-40B4-BE49-F238E27FC236}">
                <a16:creationId xmlns:a16="http://schemas.microsoft.com/office/drawing/2014/main" id="{5D51F7F7-51C9-E601-61B6-9064308EADA5}"/>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6" name="Picture 15">
            <a:extLst>
              <a:ext uri="{FF2B5EF4-FFF2-40B4-BE49-F238E27FC236}">
                <a16:creationId xmlns:a16="http://schemas.microsoft.com/office/drawing/2014/main" id="{78B7BD07-7510-810B-C390-F4592932FDA2}"/>
              </a:ext>
            </a:extLst>
          </p:cNvPr>
          <p:cNvPicPr>
            <a:picLocks noChangeAspect="1"/>
          </p:cNvPicPr>
          <p:nvPr/>
        </p:nvPicPr>
        <p:blipFill>
          <a:blip r:embed="rId2"/>
          <a:stretch>
            <a:fillRect/>
          </a:stretch>
        </p:blipFill>
        <p:spPr>
          <a:xfrm>
            <a:off x="2351449" y="2460930"/>
            <a:ext cx="4260857" cy="20513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Rectangle 180"/>
          <p:cNvSpPr/>
          <p:nvPr/>
        </p:nvSpPr>
        <p:spPr>
          <a:xfrm>
            <a:off x="483714" y="476280"/>
            <a:ext cx="8191080" cy="586803"/>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tabLst>
                <a:tab pos="0" algn="l"/>
              </a:tabLst>
            </a:pPr>
            <a:r>
              <a:rPr lang="en-US" sz="2800" b="1" dirty="0">
                <a:solidFill>
                  <a:srgbClr val="000000"/>
                </a:solidFill>
                <a:latin typeface="Nirmala UI Semilight" panose="020B0402040204020203" pitchFamily="34" charset="0"/>
                <a:ea typeface="Nirmala UI Semilight" panose="020B0402040204020203" pitchFamily="34" charset="0"/>
                <a:cs typeface="Nirmala UI Semilight" panose="020B0402040204020203" pitchFamily="34" charset="0"/>
              </a:rPr>
              <a:t>Circuit Theory and Architecture</a:t>
            </a:r>
          </a:p>
          <a:p>
            <a:pPr>
              <a:tabLst>
                <a:tab pos="0" algn="l"/>
              </a:tabLst>
            </a:pPr>
            <a:endParaRPr lang="en-US" sz="2800" b="1" dirty="0">
              <a:solidFill>
                <a:srgbClr val="000000"/>
              </a:solidFill>
              <a:latin typeface="Nirmala UI Semilight" panose="020B0402040204020203" pitchFamily="34" charset="0"/>
              <a:ea typeface="Nirmala UI Semilight" panose="020B0402040204020203" pitchFamily="34" charset="0"/>
              <a:cs typeface="Nirmala UI Semilight" panose="020B0402040204020203" pitchFamily="34" charset="0"/>
            </a:endParaRPr>
          </a:p>
          <a:p>
            <a:pPr defTabSz="914400">
              <a:lnSpc>
                <a:spcPct val="100000"/>
              </a:lnSpc>
              <a:tabLst>
                <a:tab pos="0" algn="l"/>
              </a:tabLst>
            </a:pPr>
            <a:endParaRPr lang="en-US" sz="2500" b="1" u="none" strike="noStrike" dirty="0">
              <a:solidFill>
                <a:srgbClr val="000000"/>
              </a:solidFill>
              <a:effectLst/>
              <a:uFillTx/>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182" name="Rectangle 181"/>
          <p:cNvSpPr/>
          <p:nvPr/>
        </p:nvSpPr>
        <p:spPr>
          <a:xfrm>
            <a:off x="476280" y="996177"/>
            <a:ext cx="8310027" cy="3345364"/>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nSpc>
                <a:spcPct val="150000"/>
              </a:lnSpc>
              <a:tabLst>
                <a:tab pos="0" algn="l"/>
              </a:tabLst>
            </a:pPr>
            <a:r>
              <a:rPr lang="en-US" sz="1200" b="0" u="none" strike="noStrike" dirty="0">
                <a:solidFill>
                  <a:schemeClr val="dk1"/>
                </a:solidFill>
                <a:effectLst/>
                <a:uFillTx/>
                <a:latin typeface="Red Hat Display"/>
              </a:rPr>
              <a:t> A Two-Stage Operational Transconductance Amplifier (OTA) consists of two cascaded gain stages to achieve high voltage gain. </a:t>
            </a:r>
          </a:p>
          <a:p>
            <a:pPr marL="171450" indent="-171450">
              <a:lnSpc>
                <a:spcPct val="150000"/>
              </a:lnSpc>
              <a:buFont typeface="Arial" panose="020B0604020202020204" pitchFamily="34" charset="0"/>
              <a:buChar char="•"/>
              <a:tabLst>
                <a:tab pos="0" algn="l"/>
              </a:tabLst>
            </a:pPr>
            <a:endParaRPr lang="en-US" sz="1200" dirty="0">
              <a:solidFill>
                <a:schemeClr val="dk1"/>
              </a:solidFill>
              <a:latin typeface="Red Hat Display"/>
            </a:endParaRPr>
          </a:p>
          <a:p>
            <a:pPr marL="171450" indent="-171450">
              <a:lnSpc>
                <a:spcPct val="150000"/>
              </a:lnSpc>
              <a:buFont typeface="Arial" panose="020B0604020202020204" pitchFamily="34" charset="0"/>
              <a:buChar char="•"/>
              <a:tabLst>
                <a:tab pos="0" algn="l"/>
              </a:tabLst>
            </a:pPr>
            <a:endParaRPr lang="en-US" sz="1200" b="0" u="none" strike="noStrike" dirty="0">
              <a:solidFill>
                <a:schemeClr val="dk1"/>
              </a:solidFill>
              <a:effectLst/>
              <a:uFillTx/>
              <a:latin typeface="Red Hat Display"/>
            </a:endParaRPr>
          </a:p>
          <a:p>
            <a:pPr marL="171450" indent="-171450">
              <a:lnSpc>
                <a:spcPct val="150000"/>
              </a:lnSpc>
              <a:buFont typeface="Arial" panose="020B0604020202020204" pitchFamily="34" charset="0"/>
              <a:buChar char="•"/>
              <a:tabLst>
                <a:tab pos="0" algn="l"/>
              </a:tabLst>
            </a:pPr>
            <a:endParaRPr lang="en-US" sz="1200" dirty="0">
              <a:solidFill>
                <a:schemeClr val="dk1"/>
              </a:solidFill>
              <a:latin typeface="Red Hat Display"/>
            </a:endParaRPr>
          </a:p>
          <a:p>
            <a:pPr marL="171450" indent="-171450">
              <a:lnSpc>
                <a:spcPct val="150000"/>
              </a:lnSpc>
              <a:buFont typeface="Arial" panose="020B0604020202020204" pitchFamily="34" charset="0"/>
              <a:buChar char="•"/>
              <a:tabLst>
                <a:tab pos="0" algn="l"/>
              </a:tabLst>
            </a:pPr>
            <a:endParaRPr lang="en-US" sz="1200" b="0" u="none" strike="noStrike" dirty="0">
              <a:solidFill>
                <a:schemeClr val="dk1"/>
              </a:solidFill>
              <a:effectLst/>
              <a:uFillTx/>
              <a:latin typeface="Red Hat Display"/>
            </a:endParaRPr>
          </a:p>
        </p:txBody>
      </p:sp>
      <p:pic>
        <p:nvPicPr>
          <p:cNvPr id="5" name="Picture 4">
            <a:extLst>
              <a:ext uri="{FF2B5EF4-FFF2-40B4-BE49-F238E27FC236}">
                <a16:creationId xmlns:a16="http://schemas.microsoft.com/office/drawing/2014/main" id="{95DB3A96-9AF6-B7D2-08DD-634492E4E95F}"/>
              </a:ext>
            </a:extLst>
          </p:cNvPr>
          <p:cNvPicPr>
            <a:picLocks noChangeAspect="1"/>
          </p:cNvPicPr>
          <p:nvPr/>
        </p:nvPicPr>
        <p:blipFill>
          <a:blip r:embed="rId2">
            <a:clrChange>
              <a:clrFrom>
                <a:srgbClr val="E6F2F2"/>
              </a:clrFrom>
              <a:clrTo>
                <a:srgbClr val="E6F2F2">
                  <a:alpha val="0"/>
                </a:srgbClr>
              </a:clrTo>
            </a:clrChange>
            <a:extLst>
              <a:ext uri="{BEBA8EAE-BF5A-486C-A8C5-ECC9F3942E4B}">
                <a14:imgProps xmlns:a14="http://schemas.microsoft.com/office/drawing/2010/main">
                  <a14:imgLayer r:embed="rId3">
                    <a14:imgEffect>
                      <a14:saturation sat="33000"/>
                    </a14:imgEffect>
                  </a14:imgLayer>
                </a14:imgProps>
              </a:ext>
            </a:extLst>
          </a:blip>
          <a:stretch>
            <a:fillRect/>
          </a:stretch>
        </p:blipFill>
        <p:spPr>
          <a:xfrm>
            <a:off x="1435040" y="1352057"/>
            <a:ext cx="6273560" cy="340046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A286443-B499-D73D-7D4E-80FB3ECD2F3C}"/>
              </a:ext>
            </a:extLst>
          </p:cNvPr>
          <p:cNvSpPr>
            <a:spLocks noGrp="1"/>
          </p:cNvSpPr>
          <p:nvPr>
            <p:ph type="body"/>
          </p:nvPr>
        </p:nvSpPr>
        <p:spPr>
          <a:xfrm>
            <a:off x="505523" y="550127"/>
            <a:ext cx="3635298" cy="4021513"/>
          </a:xfrm>
          <a:ln w="12700">
            <a:solidFill>
              <a:schemeClr val="tx1"/>
            </a:solidFill>
          </a:ln>
        </p:spPr>
        <p:txBody>
          <a:bodyPr/>
          <a:lstStyle/>
          <a:p>
            <a:pPr marL="0" indent="0" algn="ctr">
              <a:lnSpc>
                <a:spcPct val="150000"/>
              </a:lnSpc>
              <a:buNone/>
              <a:tabLst>
                <a:tab pos="0" algn="l"/>
              </a:tabLst>
            </a:pPr>
            <a:r>
              <a:rPr lang="en-US" sz="1050" dirty="0">
                <a:solidFill>
                  <a:schemeClr val="dk1"/>
                </a:solidFill>
                <a:latin typeface="Bahnschrift Light" panose="020B0502040204020203" pitchFamily="34" charset="0"/>
                <a:ea typeface="Nirmala Text Semilight" panose="020B0402040204020203" pitchFamily="34" charset="0"/>
                <a:cs typeface="Nirmala Text Semilight" panose="020B0402040204020203" pitchFamily="34" charset="0"/>
              </a:rPr>
              <a:t>T</a:t>
            </a:r>
            <a:r>
              <a:rPr lang="en-US" sz="1050" b="0" u="none" strike="noStrike" dirty="0">
                <a:solidFill>
                  <a:schemeClr val="dk1"/>
                </a:solidFill>
                <a:effectLst/>
                <a:uFillTx/>
                <a:latin typeface="Bahnschrift Light" panose="020B0502040204020203" pitchFamily="34" charset="0"/>
                <a:ea typeface="Nirmala Text Semilight" panose="020B0402040204020203" pitchFamily="34" charset="0"/>
                <a:cs typeface="Nirmala Text Semilight" panose="020B0402040204020203" pitchFamily="34" charset="0"/>
              </a:rPr>
              <a:t>he first stage is typically a differential amplifier that converts the input differential voltage into current and provides initial gain and high input impedance. </a:t>
            </a:r>
          </a:p>
          <a:p>
            <a:pPr marL="0" indent="0">
              <a:lnSpc>
                <a:spcPct val="150000"/>
              </a:lnSpc>
              <a:buNone/>
              <a:tabLst>
                <a:tab pos="0" algn="l"/>
              </a:tabLst>
            </a:pPr>
            <a:endParaRPr lang="en-US" sz="1400" b="0" u="none" strike="noStrike" dirty="0">
              <a:solidFill>
                <a:schemeClr val="dk1"/>
              </a:solidFill>
              <a:effectLst/>
              <a:uFillTx/>
              <a:latin typeface="Red Hat Display"/>
            </a:endParaRPr>
          </a:p>
          <a:p>
            <a:endParaRPr lang="en-US" sz="1400" dirty="0"/>
          </a:p>
        </p:txBody>
      </p:sp>
      <p:sp>
        <p:nvSpPr>
          <p:cNvPr id="4" name="TextBox 3">
            <a:extLst>
              <a:ext uri="{FF2B5EF4-FFF2-40B4-BE49-F238E27FC236}">
                <a16:creationId xmlns:a16="http://schemas.microsoft.com/office/drawing/2014/main" id="{F7E94EB6-43D4-EB3C-79F9-DE3EC9E7DE15}"/>
              </a:ext>
            </a:extLst>
          </p:cNvPr>
          <p:cNvSpPr txBox="1"/>
          <p:nvPr/>
        </p:nvSpPr>
        <p:spPr>
          <a:xfrm>
            <a:off x="4572000" y="546299"/>
            <a:ext cx="3873190" cy="4024179"/>
          </a:xfrm>
          <a:prstGeom prst="rect">
            <a:avLst/>
          </a:prstGeom>
          <a:noFill/>
          <a:ln w="12700">
            <a:solidFill>
              <a:schemeClr val="tx1"/>
            </a:solidFill>
          </a:ln>
        </p:spPr>
        <p:txBody>
          <a:bodyPr wrap="square" rtlCol="0">
            <a:spAutoFit/>
          </a:bodyPr>
          <a:lstStyle/>
          <a:p>
            <a:pPr algn="ctr"/>
            <a:endParaRPr lang="en-US" sz="1050" dirty="0">
              <a:solidFill>
                <a:schemeClr val="dk1"/>
              </a:solidFill>
              <a:latin typeface="Bahnschrift Light" panose="020B0502040204020203" pitchFamily="34" charset="0"/>
            </a:endParaRPr>
          </a:p>
          <a:p>
            <a:pPr algn="ctr"/>
            <a:r>
              <a:rPr lang="en-US" sz="1050" dirty="0">
                <a:solidFill>
                  <a:schemeClr val="dk1"/>
                </a:solidFill>
                <a:latin typeface="Bahnschrift Light" panose="020B0502040204020203" pitchFamily="34" charset="0"/>
              </a:rPr>
              <a:t>The second stage is a common source amplifier that provides additional gain and large output voltage swing to drive the load.</a:t>
            </a:r>
            <a:br>
              <a:rPr lang="en-US" sz="1050" dirty="0">
                <a:solidFill>
                  <a:schemeClr val="dk1"/>
                </a:solidFill>
                <a:latin typeface="Bahnschrift Light" panose="020B0502040204020203" pitchFamily="34" charset="0"/>
              </a:rPr>
            </a:br>
            <a:r>
              <a:rPr lang="en-US" sz="1050" dirty="0">
                <a:solidFill>
                  <a:schemeClr val="dk1"/>
                </a:solidFill>
                <a:latin typeface="Bahnschrift Light" panose="020B0502040204020203" pitchFamily="34" charset="0"/>
              </a:rPr>
              <a:t>             </a:t>
            </a:r>
          </a:p>
          <a:p>
            <a:pPr algn="ctr"/>
            <a:endParaRPr lang="en-US" sz="1050" dirty="0">
              <a:solidFill>
                <a:schemeClr val="dk1"/>
              </a:solidFill>
              <a:latin typeface="Bahnschrift Light" panose="020B0502040204020203" pitchFamily="34" charset="0"/>
            </a:endParaRPr>
          </a:p>
          <a:p>
            <a:pPr algn="ctr"/>
            <a:endParaRPr lang="en-US" sz="1050" dirty="0">
              <a:solidFill>
                <a:schemeClr val="dk1"/>
              </a:solidFill>
              <a:latin typeface="Bahnschrift Light" panose="020B0502040204020203" pitchFamily="34" charset="0"/>
            </a:endParaRPr>
          </a:p>
          <a:p>
            <a:pPr algn="ctr"/>
            <a:br>
              <a:rPr lang="en-US" sz="1050" dirty="0">
                <a:solidFill>
                  <a:schemeClr val="dk1"/>
                </a:solidFill>
                <a:latin typeface="Bahnschrift Light" panose="020B0502040204020203" pitchFamily="34" charset="0"/>
              </a:rPr>
            </a:br>
            <a:br>
              <a:rPr lang="en-US" sz="1050" dirty="0">
                <a:solidFill>
                  <a:schemeClr val="dk1"/>
                </a:solidFill>
                <a:latin typeface="Bahnschrift Light" panose="020B0502040204020203" pitchFamily="34" charset="0"/>
              </a:rPr>
            </a:br>
            <a:br>
              <a:rPr lang="en-US" sz="1050" dirty="0">
                <a:solidFill>
                  <a:schemeClr val="dk1"/>
                </a:solidFill>
                <a:latin typeface="Bahnschrift Light" panose="020B0502040204020203" pitchFamily="34" charset="0"/>
              </a:rPr>
            </a:br>
            <a:br>
              <a:rPr lang="en-US" sz="1050" dirty="0">
                <a:solidFill>
                  <a:schemeClr val="dk1"/>
                </a:solidFill>
                <a:latin typeface="Bahnschrift Light" panose="020B0502040204020203" pitchFamily="34" charset="0"/>
              </a:rPr>
            </a:br>
            <a:br>
              <a:rPr lang="en-US" sz="1050" dirty="0">
                <a:solidFill>
                  <a:schemeClr val="dk1"/>
                </a:solidFill>
                <a:latin typeface="Bahnschrift Light" panose="020B0502040204020203" pitchFamily="34" charset="0"/>
              </a:rPr>
            </a:br>
            <a:br>
              <a:rPr lang="en-US" sz="1050" dirty="0">
                <a:solidFill>
                  <a:schemeClr val="dk1"/>
                </a:solidFill>
                <a:latin typeface="Bahnschrift Light" panose="020B0502040204020203" pitchFamily="34" charset="0"/>
              </a:rPr>
            </a:br>
            <a:br>
              <a:rPr lang="en-US" sz="1050" dirty="0">
                <a:solidFill>
                  <a:schemeClr val="dk1"/>
                </a:solidFill>
                <a:latin typeface="Bahnschrift Light" panose="020B0502040204020203" pitchFamily="34" charset="0"/>
              </a:rPr>
            </a:br>
            <a:br>
              <a:rPr lang="en-US" sz="1050" dirty="0">
                <a:solidFill>
                  <a:schemeClr val="dk1"/>
                </a:solidFill>
                <a:latin typeface="Bahnschrift Light" panose="020B0502040204020203" pitchFamily="34" charset="0"/>
              </a:rPr>
            </a:br>
            <a:br>
              <a:rPr lang="en-US" sz="1050" dirty="0">
                <a:solidFill>
                  <a:schemeClr val="dk1"/>
                </a:solidFill>
                <a:latin typeface="Bahnschrift Light" panose="020B0502040204020203" pitchFamily="34" charset="0"/>
              </a:rPr>
            </a:br>
            <a:br>
              <a:rPr lang="en-US" sz="1050" dirty="0">
                <a:solidFill>
                  <a:schemeClr val="dk1"/>
                </a:solidFill>
                <a:latin typeface="Bahnschrift Light" panose="020B0502040204020203" pitchFamily="34" charset="0"/>
              </a:rPr>
            </a:br>
            <a:br>
              <a:rPr lang="en-US" sz="1050" dirty="0">
                <a:solidFill>
                  <a:schemeClr val="dk1"/>
                </a:solidFill>
                <a:latin typeface="Bahnschrift Light" panose="020B0502040204020203" pitchFamily="34" charset="0"/>
              </a:rPr>
            </a:br>
            <a:br>
              <a:rPr lang="en-US" sz="1050" dirty="0">
                <a:solidFill>
                  <a:schemeClr val="dk1"/>
                </a:solidFill>
                <a:latin typeface="Bahnschrift Light" panose="020B0502040204020203" pitchFamily="34" charset="0"/>
              </a:rPr>
            </a:br>
            <a:br>
              <a:rPr lang="en-US" sz="1050" dirty="0">
                <a:solidFill>
                  <a:schemeClr val="dk1"/>
                </a:solidFill>
                <a:latin typeface="Bahnschrift Light" panose="020B0502040204020203" pitchFamily="34" charset="0"/>
              </a:rPr>
            </a:br>
            <a:br>
              <a:rPr lang="en-US" sz="1050" dirty="0">
                <a:solidFill>
                  <a:schemeClr val="dk1"/>
                </a:solidFill>
                <a:latin typeface="Bahnschrift Light" panose="020B0502040204020203" pitchFamily="34" charset="0"/>
              </a:rPr>
            </a:br>
            <a:br>
              <a:rPr lang="en-US" sz="1050" dirty="0">
                <a:solidFill>
                  <a:schemeClr val="dk1"/>
                </a:solidFill>
                <a:latin typeface="Bahnschrift Light" panose="020B0502040204020203" pitchFamily="34" charset="0"/>
              </a:rPr>
            </a:br>
            <a:endParaRPr lang="en-US" sz="1050" dirty="0">
              <a:solidFill>
                <a:schemeClr val="dk1"/>
              </a:solidFill>
              <a:latin typeface="Bahnschrift Light" panose="020B0502040204020203" pitchFamily="34" charset="0"/>
            </a:endParaRPr>
          </a:p>
          <a:p>
            <a:endParaRPr lang="en-US" sz="1400" dirty="0"/>
          </a:p>
        </p:txBody>
      </p:sp>
      <p:pic>
        <p:nvPicPr>
          <p:cNvPr id="6" name="Picture 5">
            <a:extLst>
              <a:ext uri="{FF2B5EF4-FFF2-40B4-BE49-F238E27FC236}">
                <a16:creationId xmlns:a16="http://schemas.microsoft.com/office/drawing/2014/main" id="{971DAEC9-9667-2AB3-FF77-C178BB38FAEE}"/>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917748" y="1615746"/>
            <a:ext cx="2855449" cy="2793149"/>
          </a:xfrm>
          <a:prstGeom prst="rect">
            <a:avLst/>
          </a:prstGeom>
        </p:spPr>
      </p:pic>
      <p:pic>
        <p:nvPicPr>
          <p:cNvPr id="11" name="Picture 10">
            <a:extLst>
              <a:ext uri="{FF2B5EF4-FFF2-40B4-BE49-F238E27FC236}">
                <a16:creationId xmlns:a16="http://schemas.microsoft.com/office/drawing/2014/main" id="{CCAFDABA-D2F1-AB2C-7565-42A71964A7A0}"/>
              </a:ext>
            </a:extLst>
          </p:cNvPr>
          <p:cNvPicPr>
            <a:picLocks noChangeAspect="1"/>
          </p:cNvPicPr>
          <p:nvPr/>
        </p:nvPicPr>
        <p:blipFill>
          <a:blip r:embed="rId3">
            <a:clrChange>
              <a:clrFrom>
                <a:srgbClr val="FFFFFF"/>
              </a:clrFrom>
              <a:clrTo>
                <a:srgbClr val="FFFFFF">
                  <a:alpha val="0"/>
                </a:srgbClr>
              </a:clrTo>
            </a:clrChange>
          </a:blip>
          <a:srcRect r="58545"/>
          <a:stretch>
            <a:fillRect/>
          </a:stretch>
        </p:blipFill>
        <p:spPr>
          <a:xfrm>
            <a:off x="5248343" y="1471962"/>
            <a:ext cx="2634644" cy="2869580"/>
          </a:xfrm>
          <a:prstGeom prst="rect">
            <a:avLst/>
          </a:prstGeom>
        </p:spPr>
      </p:pic>
    </p:spTree>
    <p:extLst>
      <p:ext uri="{BB962C8B-B14F-4D97-AF65-F5344CB8AC3E}">
        <p14:creationId xmlns:p14="http://schemas.microsoft.com/office/powerpoint/2010/main" val="1957959785"/>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709FCB-AB83-7735-5BD8-47D87DBDFE57}"/>
              </a:ext>
            </a:extLst>
          </p:cNvPr>
          <p:cNvSpPr>
            <a:spLocks noGrp="1"/>
          </p:cNvSpPr>
          <p:nvPr>
            <p:ph type="body"/>
          </p:nvPr>
        </p:nvSpPr>
        <p:spPr>
          <a:xfrm>
            <a:off x="753840" y="527824"/>
            <a:ext cx="7589880" cy="4043816"/>
          </a:xfrm>
          <a:ln w="9525"/>
        </p:spPr>
        <p:txBody>
          <a:bodyPr/>
          <a:lstStyle/>
          <a:p>
            <a:pPr>
              <a:lnSpc>
                <a:spcPct val="150000"/>
              </a:lnSpc>
              <a:tabLst>
                <a:tab pos="0" algn="l"/>
              </a:tabLst>
            </a:pPr>
            <a:r>
              <a:rPr lang="en-US" sz="1400" dirty="0">
                <a:solidFill>
                  <a:schemeClr val="dk1"/>
                </a:solidFill>
                <a:latin typeface="Red Hat Display"/>
              </a:rPr>
              <a:t>Since multiple gain stages introduce multiple poles, the amplifier can become unstable. </a:t>
            </a:r>
          </a:p>
          <a:p>
            <a:pPr>
              <a:lnSpc>
                <a:spcPct val="150000"/>
              </a:lnSpc>
              <a:tabLst>
                <a:tab pos="0" algn="l"/>
              </a:tabLst>
            </a:pPr>
            <a:r>
              <a:rPr lang="en-US" sz="1400" dirty="0">
                <a:solidFill>
                  <a:schemeClr val="dk1"/>
                </a:solidFill>
                <a:latin typeface="Red Hat Display"/>
              </a:rPr>
              <a:t>To improve stability, we add a compensation capacitor between the stages, creating a dominant pole and improving phase margin</a:t>
            </a:r>
          </a:p>
          <a:p>
            <a:pPr marL="171450" indent="-171450">
              <a:lnSpc>
                <a:spcPct val="150000"/>
              </a:lnSpc>
              <a:tabLst>
                <a:tab pos="0" algn="l"/>
              </a:tabLst>
            </a:pPr>
            <a:r>
              <a:rPr lang="en-US" sz="1400" dirty="0">
                <a:latin typeface="Red Hat Display"/>
              </a:rPr>
              <a:t>Because the capacitance value is effectively increased due to the </a:t>
            </a:r>
            <a:r>
              <a:rPr lang="en-US" sz="1400" b="1" dirty="0">
                <a:latin typeface="Red Hat Display"/>
              </a:rPr>
              <a:t>Miller effect</a:t>
            </a:r>
            <a:r>
              <a:rPr lang="en-US" sz="1400" dirty="0">
                <a:latin typeface="Red Hat Display"/>
              </a:rPr>
              <a:t>, the compensation technique is referred to as </a:t>
            </a:r>
            <a:r>
              <a:rPr lang="en-US" sz="1400" b="1" dirty="0">
                <a:latin typeface="Red Hat Display"/>
              </a:rPr>
              <a:t>Miller Compensation</a:t>
            </a:r>
            <a:r>
              <a:rPr lang="en-US" sz="1400" dirty="0">
                <a:latin typeface="Red Hat Display"/>
              </a:rPr>
              <a:t>.</a:t>
            </a:r>
          </a:p>
          <a:p>
            <a:pPr marL="0" indent="0">
              <a:lnSpc>
                <a:spcPct val="150000"/>
              </a:lnSpc>
              <a:buNone/>
              <a:tabLst>
                <a:tab pos="0" algn="l"/>
              </a:tabLst>
            </a:pPr>
            <a:endParaRPr lang="en-US" sz="1400" dirty="0">
              <a:latin typeface="Red Hat Display"/>
            </a:endParaRPr>
          </a:p>
          <a:p>
            <a:pPr marL="0" indent="0">
              <a:lnSpc>
                <a:spcPct val="150000"/>
              </a:lnSpc>
              <a:buNone/>
              <a:tabLst>
                <a:tab pos="0" algn="l"/>
              </a:tabLst>
            </a:pPr>
            <a:endParaRPr lang="en-US" sz="1400" dirty="0">
              <a:latin typeface="Red Hat Display"/>
            </a:endParaRPr>
          </a:p>
        </p:txBody>
      </p:sp>
      <p:pic>
        <p:nvPicPr>
          <p:cNvPr id="5" name="Picture 4">
            <a:extLst>
              <a:ext uri="{FF2B5EF4-FFF2-40B4-BE49-F238E27FC236}">
                <a16:creationId xmlns:a16="http://schemas.microsoft.com/office/drawing/2014/main" id="{B3B96605-1DC2-D21D-16B8-42A4C59214EB}"/>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22361" r="18321" b="52880"/>
          <a:stretch>
            <a:fillRect/>
          </a:stretch>
        </p:blipFill>
        <p:spPr>
          <a:xfrm>
            <a:off x="800280" y="2709863"/>
            <a:ext cx="3103382" cy="1438392"/>
          </a:xfrm>
          <a:prstGeom prst="rect">
            <a:avLst/>
          </a:prstGeom>
        </p:spPr>
      </p:pic>
      <p:pic>
        <p:nvPicPr>
          <p:cNvPr id="7" name="Picture 6">
            <a:extLst>
              <a:ext uri="{FF2B5EF4-FFF2-40B4-BE49-F238E27FC236}">
                <a16:creationId xmlns:a16="http://schemas.microsoft.com/office/drawing/2014/main" id="{3B07DABE-AB7E-326A-507E-9B9A01CAB350}"/>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8129" t="47230" r="4089"/>
          <a:stretch>
            <a:fillRect/>
          </a:stretch>
        </p:blipFill>
        <p:spPr>
          <a:xfrm>
            <a:off x="4054727" y="2784204"/>
            <a:ext cx="4529651" cy="1438392"/>
          </a:xfrm>
          <a:prstGeom prst="rect">
            <a:avLst/>
          </a:prstGeom>
        </p:spPr>
      </p:pic>
      <p:sp>
        <p:nvSpPr>
          <p:cNvPr id="8" name="TextBox 7">
            <a:extLst>
              <a:ext uri="{FF2B5EF4-FFF2-40B4-BE49-F238E27FC236}">
                <a16:creationId xmlns:a16="http://schemas.microsoft.com/office/drawing/2014/main" id="{6ED506A9-42C9-A34E-2E59-0A50153D628C}"/>
              </a:ext>
            </a:extLst>
          </p:cNvPr>
          <p:cNvSpPr txBox="1"/>
          <p:nvPr/>
        </p:nvSpPr>
        <p:spPr>
          <a:xfrm>
            <a:off x="3739376" y="4045777"/>
            <a:ext cx="2319454" cy="276999"/>
          </a:xfrm>
          <a:prstGeom prst="rect">
            <a:avLst/>
          </a:prstGeom>
          <a:noFill/>
        </p:spPr>
        <p:txBody>
          <a:bodyPr wrap="square" rtlCol="0">
            <a:spAutoFit/>
          </a:bodyPr>
          <a:lstStyle/>
          <a:p>
            <a:r>
              <a:rPr lang="en-US" sz="1200" b="1" dirty="0">
                <a:latin typeface="Book Antiqua" panose="02040602050305030304" pitchFamily="18" charset="0"/>
              </a:rPr>
              <a:t>Miller’s Theorem</a:t>
            </a:r>
          </a:p>
        </p:txBody>
      </p:sp>
      <p:sp>
        <p:nvSpPr>
          <p:cNvPr id="9" name="Rectangle 8">
            <a:extLst>
              <a:ext uri="{FF2B5EF4-FFF2-40B4-BE49-F238E27FC236}">
                <a16:creationId xmlns:a16="http://schemas.microsoft.com/office/drawing/2014/main" id="{4F7ABC86-92EF-7BE9-73FD-1EAC4AC374DB}"/>
              </a:ext>
            </a:extLst>
          </p:cNvPr>
          <p:cNvSpPr/>
          <p:nvPr/>
        </p:nvSpPr>
        <p:spPr>
          <a:xfrm>
            <a:off x="505522" y="2571750"/>
            <a:ext cx="8184995" cy="1896172"/>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2905065"/>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0">
          <a:blip r:embed="rId3">
            <a:extLst>
              <a:ext uri="{BEBA8EAE-BF5A-486C-A8C5-ECC9F3942E4B}">
                <a14:imgProps xmlns:a14="http://schemas.microsoft.com/office/drawing/2010/main">
                  <a14:imgLayer r:embed="rId4">
                    <a14:imgEffect>
                      <a14:sharpenSoften amount="100000"/>
                    </a14:imgEffect>
                    <a14:imgEffect>
                      <a14:brightnessContrast contrast="-15000"/>
                    </a14:imgEffect>
                  </a14:imgLayer>
                </a14:imgProps>
              </a:ext>
            </a:extLst>
          </a:blip>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0621E8-187C-0F61-F5F1-F4FDCE8D71BE}"/>
              </a:ext>
            </a:extLst>
          </p:cNvPr>
          <p:cNvSpPr>
            <a:spLocks noGrp="1"/>
          </p:cNvSpPr>
          <p:nvPr>
            <p:ph type="title"/>
          </p:nvPr>
        </p:nvSpPr>
        <p:spPr>
          <a:xfrm>
            <a:off x="507628" y="438480"/>
            <a:ext cx="8129165" cy="736115"/>
          </a:xfrm>
        </p:spPr>
        <p:txBody>
          <a:bodyPr/>
          <a:lstStyle/>
          <a:p>
            <a:pPr marL="0" indent="0" algn="ctr">
              <a:buNone/>
            </a:pPr>
            <a:r>
              <a:rPr lang="en-US" sz="2800" b="1" dirty="0">
                <a:latin typeface="Bahnschrift Light" panose="020B0502040204020203" pitchFamily="34" charset="0"/>
              </a:rPr>
              <a:t>OTA </a:t>
            </a:r>
            <a:r>
              <a:rPr lang="en-US" sz="2800" b="1" dirty="0">
                <a:latin typeface="Nirmala UI Semilight" panose="020B0402040204020203" pitchFamily="34" charset="0"/>
                <a:ea typeface="Nirmala UI Semilight" panose="020B0402040204020203" pitchFamily="34" charset="0"/>
                <a:cs typeface="Nirmala UI Semilight" panose="020B0402040204020203" pitchFamily="34" charset="0"/>
              </a:rPr>
              <a:t>Design</a:t>
            </a:r>
            <a:r>
              <a:rPr lang="en-US" sz="2800" b="1" dirty="0">
                <a:latin typeface="Bahnschrift Light" panose="020B0502040204020203" pitchFamily="34" charset="0"/>
              </a:rPr>
              <a:t> Specifications</a:t>
            </a:r>
          </a:p>
        </p:txBody>
      </p:sp>
      <p:graphicFrame>
        <p:nvGraphicFramePr>
          <p:cNvPr id="7" name="Table 6">
            <a:extLst>
              <a:ext uri="{FF2B5EF4-FFF2-40B4-BE49-F238E27FC236}">
                <a16:creationId xmlns:a16="http://schemas.microsoft.com/office/drawing/2014/main" id="{02AA33D7-1868-E1E2-BB3C-1868294F671D}"/>
              </a:ext>
            </a:extLst>
          </p:cNvPr>
          <p:cNvGraphicFramePr>
            <a:graphicFrameLocks noGrp="1"/>
          </p:cNvGraphicFramePr>
          <p:nvPr>
            <p:extLst>
              <p:ext uri="{D42A27DB-BD31-4B8C-83A1-F6EECF244321}">
                <p14:modId xmlns:p14="http://schemas.microsoft.com/office/powerpoint/2010/main" val="306995186"/>
              </p:ext>
            </p:extLst>
          </p:nvPr>
        </p:nvGraphicFramePr>
        <p:xfrm>
          <a:off x="1544240" y="1512400"/>
          <a:ext cx="6055520" cy="2536600"/>
        </p:xfrm>
        <a:graphic>
          <a:graphicData uri="http://schemas.openxmlformats.org/drawingml/2006/table">
            <a:tbl>
              <a:tblPr firstRow="1" bandRow="1">
                <a:tableStyleId>{5C22544A-7EE6-4342-B048-85BDC9FD1C3A}</a:tableStyleId>
              </a:tblPr>
              <a:tblGrid>
                <a:gridCol w="3027760">
                  <a:extLst>
                    <a:ext uri="{9D8B030D-6E8A-4147-A177-3AD203B41FA5}">
                      <a16:colId xmlns:a16="http://schemas.microsoft.com/office/drawing/2014/main" val="752621667"/>
                    </a:ext>
                  </a:extLst>
                </a:gridCol>
                <a:gridCol w="3027760">
                  <a:extLst>
                    <a:ext uri="{9D8B030D-6E8A-4147-A177-3AD203B41FA5}">
                      <a16:colId xmlns:a16="http://schemas.microsoft.com/office/drawing/2014/main" val="3234871671"/>
                    </a:ext>
                  </a:extLst>
                </a:gridCol>
              </a:tblGrid>
              <a:tr h="230818">
                <a:tc>
                  <a:txBody>
                    <a:bodyPr/>
                    <a:lstStyle/>
                    <a:p>
                      <a:pPr algn="ctr"/>
                      <a:r>
                        <a:rPr lang="en-US" sz="1000" dirty="0">
                          <a:solidFill>
                            <a:schemeClr val="tx1"/>
                          </a:solidFill>
                        </a:rPr>
                        <a:t>Parameter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dirty="0">
                          <a:solidFill>
                            <a:schemeClr val="tx1"/>
                          </a:solidFill>
                        </a:rPr>
                        <a:t>Target Value </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2132203"/>
                  </a:ext>
                </a:extLst>
              </a:tr>
              <a:tr h="230818">
                <a:tc>
                  <a:txBody>
                    <a:bodyPr/>
                    <a:lstStyle/>
                    <a:p>
                      <a:r>
                        <a:rPr lang="en-US" sz="1000" dirty="0"/>
                        <a:t>Process Technology</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a:t>0.18µm CMOS</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2727294"/>
                  </a:ext>
                </a:extLst>
              </a:tr>
              <a:tr h="230818">
                <a:tc>
                  <a:txBody>
                    <a:bodyPr/>
                    <a:lstStyle/>
                    <a:p>
                      <a:r>
                        <a:rPr lang="en-US" sz="1000" dirty="0"/>
                        <a:t>Supply Voltage (VDD)</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a:t>1.8V</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8172080"/>
                  </a:ext>
                </a:extLst>
              </a:tr>
              <a:tr h="230818">
                <a:tc>
                  <a:txBody>
                    <a:bodyPr/>
                    <a:lstStyle/>
                    <a:p>
                      <a:r>
                        <a:rPr lang="en-US" sz="1000" dirty="0"/>
                        <a:t>DC Open-Loop Gain (A</a:t>
                      </a:r>
                      <a:r>
                        <a:rPr lang="en-US" sz="700" dirty="0"/>
                        <a:t>v</a:t>
                      </a:r>
                      <a:r>
                        <a:rPr lang="en-US" sz="1000" dirty="0"/>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a:t>≥60dB</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5787197"/>
                  </a:ext>
                </a:extLst>
              </a:tr>
              <a:tr h="241153">
                <a:tc>
                  <a:txBody>
                    <a:bodyPr/>
                    <a:lstStyle/>
                    <a:p>
                      <a:r>
                        <a:rPr lang="en-US" sz="1000" dirty="0"/>
                        <a:t>Gain Bandwidth Product (GBW)</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a:t>30MHz</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4221033"/>
                  </a:ext>
                </a:extLst>
              </a:tr>
              <a:tr h="230818">
                <a:tc>
                  <a:txBody>
                    <a:bodyPr/>
                    <a:lstStyle/>
                    <a:p>
                      <a:r>
                        <a:rPr lang="en-US" sz="1000" dirty="0"/>
                        <a:t>Phase Margin (</a:t>
                      </a:r>
                      <a:r>
                        <a:rPr lang="el-GR" sz="1000" dirty="0"/>
                        <a:t>Φ</a:t>
                      </a:r>
                      <a:r>
                        <a:rPr lang="en-US" sz="1000" dirty="0"/>
                        <a:t>m)</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a:t>≥60°</a:t>
                      </a:r>
                      <a:endParaRPr lang="en-US" sz="1000" b="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7054373"/>
                  </a:ext>
                </a:extLst>
              </a:tr>
              <a:tr h="230818">
                <a:tc>
                  <a:txBody>
                    <a:bodyPr/>
                    <a:lstStyle/>
                    <a:p>
                      <a:r>
                        <a:rPr lang="en-US" sz="1000" dirty="0"/>
                        <a:t>Slew Rate (SR)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a:t>20V/µs</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760175"/>
                  </a:ext>
                </a:extLst>
              </a:tr>
              <a:tr h="230818">
                <a:tc>
                  <a:txBody>
                    <a:bodyPr/>
                    <a:lstStyle/>
                    <a:p>
                      <a:r>
                        <a:rPr lang="en-US" sz="1000" dirty="0"/>
                        <a:t>Load Capacitance (</a:t>
                      </a:r>
                      <a:r>
                        <a:rPr lang="en-US" sz="1000" dirty="0" err="1"/>
                        <a:t>C</a:t>
                      </a:r>
                      <a:r>
                        <a:rPr lang="en-US" sz="500" dirty="0" err="1"/>
                        <a:t>load</a:t>
                      </a:r>
                      <a:r>
                        <a:rPr lang="en-US" sz="1000" dirty="0"/>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a:t>2pF</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6745917"/>
                  </a:ext>
                </a:extLst>
              </a:tr>
              <a:tr h="295927">
                <a:tc>
                  <a:txBody>
                    <a:bodyPr/>
                    <a:lstStyle/>
                    <a:p>
                      <a:r>
                        <a:rPr lang="en-US" sz="1000" dirty="0"/>
                        <a:t>Maximum Input Common Mode Range(</a:t>
                      </a:r>
                      <a:r>
                        <a:rPr lang="en-US" sz="1000" dirty="0" err="1"/>
                        <a:t>ICMR</a:t>
                      </a:r>
                      <a:r>
                        <a:rPr lang="en-US" sz="700" dirty="0" err="1"/>
                        <a:t>max</a:t>
                      </a:r>
                      <a:r>
                        <a:rPr lang="en-US" sz="1000" dirty="0"/>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a:t>1.6V</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2655492"/>
                  </a:ext>
                </a:extLst>
              </a:tr>
              <a:tr h="289953">
                <a:tc>
                  <a:txBody>
                    <a:bodyPr/>
                    <a:lstStyle/>
                    <a:p>
                      <a:r>
                        <a:rPr lang="en-US" sz="1000" dirty="0"/>
                        <a:t>Minimum Input Common Mode Range(</a:t>
                      </a:r>
                      <a:r>
                        <a:rPr lang="en-US" sz="1000" dirty="0" err="1"/>
                        <a:t>ICMR</a:t>
                      </a:r>
                      <a:r>
                        <a:rPr lang="en-US" sz="700" dirty="0" err="1"/>
                        <a:t>min</a:t>
                      </a:r>
                      <a:r>
                        <a:rPr lang="en-US" sz="1000" dirty="0"/>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a:t>0.8V</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2461339"/>
                  </a:ext>
                </a:extLst>
              </a:tr>
            </a:tbl>
          </a:graphicData>
        </a:graphic>
      </p:graphicFrame>
    </p:spTree>
    <p:extLst>
      <p:ext uri="{BB962C8B-B14F-4D97-AF65-F5344CB8AC3E}">
        <p14:creationId xmlns:p14="http://schemas.microsoft.com/office/powerpoint/2010/main" val="1822526944"/>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C415CB5-3455-85C9-147E-C772ED8E0A3A}"/>
              </a:ext>
            </a:extLst>
          </p:cNvPr>
          <p:cNvSpPr>
            <a:spLocks noGrp="1"/>
          </p:cNvSpPr>
          <p:nvPr>
            <p:ph type="title"/>
          </p:nvPr>
        </p:nvSpPr>
        <p:spPr>
          <a:xfrm>
            <a:off x="743415" y="509330"/>
            <a:ext cx="7527585" cy="646200"/>
          </a:xfrm>
        </p:spPr>
        <p:txBody>
          <a:bodyPr/>
          <a:lstStyle/>
          <a:p>
            <a:pPr marL="0" indent="0" algn="ctr">
              <a:buNone/>
            </a:pPr>
            <a:r>
              <a:rPr lang="en-US" sz="2800" b="1" u="sng" dirty="0">
                <a:latin typeface="Nirmala UI Semilight" panose="020B0402040204020203" pitchFamily="34" charset="0"/>
                <a:ea typeface="Nirmala UI Semilight" panose="020B0402040204020203" pitchFamily="34" charset="0"/>
                <a:cs typeface="Nirmala UI Semilight" panose="020B0402040204020203" pitchFamily="34" charset="0"/>
              </a:rPr>
              <a:t>Final Circuit</a:t>
            </a:r>
            <a:br>
              <a:rPr lang="en-US" sz="2800" dirty="0">
                <a:latin typeface="Nirmala UI Semilight" panose="020B0402040204020203" pitchFamily="34" charset="0"/>
                <a:ea typeface="Nirmala UI Semilight" panose="020B0402040204020203" pitchFamily="34" charset="0"/>
                <a:cs typeface="Nirmala UI Semilight" panose="020B0402040204020203" pitchFamily="34" charset="0"/>
              </a:rPr>
            </a:br>
            <a:endParaRPr lang="en-US" sz="2800" dirty="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pic>
        <p:nvPicPr>
          <p:cNvPr id="10" name="Picture 9">
            <a:extLst>
              <a:ext uri="{FF2B5EF4-FFF2-40B4-BE49-F238E27FC236}">
                <a16:creationId xmlns:a16="http://schemas.microsoft.com/office/drawing/2014/main" id="{321C1AF2-3646-7896-96AE-E45E0E5A54AE}"/>
              </a:ext>
            </a:extLst>
          </p:cNvPr>
          <p:cNvPicPr>
            <a:picLocks noChangeAspect="1"/>
          </p:cNvPicPr>
          <p:nvPr/>
        </p:nvPicPr>
        <p:blipFill>
          <a:blip r:embed="rId2">
            <a:clrChange>
              <a:clrFrom>
                <a:srgbClr val="C0C0C0"/>
              </a:clrFrom>
              <a:clrTo>
                <a:srgbClr val="C0C0C0">
                  <a:alpha val="0"/>
                </a:srgbClr>
              </a:clrTo>
            </a:clrChange>
          </a:blip>
          <a:stretch>
            <a:fillRect/>
          </a:stretch>
        </p:blipFill>
        <p:spPr>
          <a:xfrm>
            <a:off x="332417" y="911690"/>
            <a:ext cx="8215005" cy="3534623"/>
          </a:xfrm>
          <a:prstGeom prst="rect">
            <a:avLst/>
          </a:prstGeom>
        </p:spPr>
      </p:pic>
    </p:spTree>
    <p:extLst>
      <p:ext uri="{BB962C8B-B14F-4D97-AF65-F5344CB8AC3E}">
        <p14:creationId xmlns:p14="http://schemas.microsoft.com/office/powerpoint/2010/main" val="1088623500"/>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D04868C-455D-0E6D-D3F1-4CF778A5ECE9}"/>
              </a:ext>
            </a:extLst>
          </p:cNvPr>
          <p:cNvSpPr>
            <a:spLocks noGrp="1"/>
          </p:cNvSpPr>
          <p:nvPr>
            <p:ph type="title"/>
          </p:nvPr>
        </p:nvSpPr>
        <p:spPr>
          <a:xfrm>
            <a:off x="849600" y="420120"/>
            <a:ext cx="7444440" cy="412504"/>
          </a:xfrm>
        </p:spPr>
        <p:txBody>
          <a:bodyPr/>
          <a:lstStyle/>
          <a:p>
            <a:pPr marL="0" indent="0" algn="ctr">
              <a:buNone/>
            </a:pPr>
            <a:r>
              <a:rPr lang="en-US" sz="2000" b="1" u="sng" dirty="0">
                <a:latin typeface="Nirmala UI Semilight" panose="020B0402040204020203" pitchFamily="34" charset="0"/>
                <a:ea typeface="Nirmala UI Semilight" panose="020B0402040204020203" pitchFamily="34" charset="0"/>
                <a:cs typeface="Nirmala UI Semilight" panose="020B0402040204020203" pitchFamily="34" charset="0"/>
              </a:rPr>
              <a:t>Simulation Results</a:t>
            </a:r>
          </a:p>
        </p:txBody>
      </p:sp>
      <p:pic>
        <p:nvPicPr>
          <p:cNvPr id="4" name="Picture 3">
            <a:extLst>
              <a:ext uri="{FF2B5EF4-FFF2-40B4-BE49-F238E27FC236}">
                <a16:creationId xmlns:a16="http://schemas.microsoft.com/office/drawing/2014/main" id="{6C463B9F-684A-906F-DB27-638E7D25FD50}"/>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04731" y="832624"/>
            <a:ext cx="3974523" cy="3847755"/>
          </a:xfrm>
          <a:prstGeom prst="rect">
            <a:avLst/>
          </a:prstGeom>
        </p:spPr>
      </p:pic>
      <p:graphicFrame>
        <p:nvGraphicFramePr>
          <p:cNvPr id="9" name="Table 8">
            <a:extLst>
              <a:ext uri="{FF2B5EF4-FFF2-40B4-BE49-F238E27FC236}">
                <a16:creationId xmlns:a16="http://schemas.microsoft.com/office/drawing/2014/main" id="{DDFD688B-0D72-B522-8029-7FD7E53AAFD8}"/>
              </a:ext>
            </a:extLst>
          </p:cNvPr>
          <p:cNvGraphicFramePr>
            <a:graphicFrameLocks noGrp="1"/>
          </p:cNvGraphicFramePr>
          <p:nvPr>
            <p:extLst>
              <p:ext uri="{D42A27DB-BD31-4B8C-83A1-F6EECF244321}">
                <p14:modId xmlns:p14="http://schemas.microsoft.com/office/powerpoint/2010/main" val="3981715307"/>
              </p:ext>
            </p:extLst>
          </p:nvPr>
        </p:nvGraphicFramePr>
        <p:xfrm>
          <a:off x="4947919" y="1338039"/>
          <a:ext cx="3517504" cy="2629146"/>
        </p:xfrm>
        <a:graphic>
          <a:graphicData uri="http://schemas.openxmlformats.org/drawingml/2006/table">
            <a:tbl>
              <a:tblPr firstRow="1" bandCol="1">
                <a:tableStyleId>{0660B408-B3CF-4A94-85FC-2B1E0A45F4A2}</a:tableStyleId>
              </a:tblPr>
              <a:tblGrid>
                <a:gridCol w="1758752">
                  <a:extLst>
                    <a:ext uri="{9D8B030D-6E8A-4147-A177-3AD203B41FA5}">
                      <a16:colId xmlns:a16="http://schemas.microsoft.com/office/drawing/2014/main" val="943337197"/>
                    </a:ext>
                  </a:extLst>
                </a:gridCol>
                <a:gridCol w="1758752">
                  <a:extLst>
                    <a:ext uri="{9D8B030D-6E8A-4147-A177-3AD203B41FA5}">
                      <a16:colId xmlns:a16="http://schemas.microsoft.com/office/drawing/2014/main" val="2814953927"/>
                    </a:ext>
                  </a:extLst>
                </a:gridCol>
              </a:tblGrid>
              <a:tr h="434552">
                <a:tc>
                  <a:txBody>
                    <a:bodyPr/>
                    <a:lstStyle/>
                    <a:p>
                      <a:pPr algn="ctr"/>
                      <a:r>
                        <a:rPr lang="en-US" dirty="0">
                          <a:solidFill>
                            <a:schemeClr val="tx1"/>
                          </a:solidFill>
                        </a:rPr>
                        <a:t>Parameters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Value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800354"/>
                  </a:ext>
                </a:extLst>
              </a:tr>
              <a:tr h="354765">
                <a:tc>
                  <a:txBody>
                    <a:bodyPr/>
                    <a:lstStyle/>
                    <a:p>
                      <a:pPr algn="ctr"/>
                      <a:r>
                        <a:rPr lang="en-US" sz="1200" dirty="0"/>
                        <a:t>Differential Gain</a:t>
                      </a:r>
                      <a:endParaRPr lang="en-US" sz="1200" dirty="0">
                        <a:latin typeface="Book Antiqua" panose="0204060205030503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latin typeface="Book Antiqua" panose="02040602050305030304" pitchFamily="18" charset="0"/>
                        </a:rPr>
                        <a:t>77dB</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0999099"/>
                  </a:ext>
                </a:extLst>
              </a:tr>
              <a:tr h="272026">
                <a:tc>
                  <a:txBody>
                    <a:bodyPr/>
                    <a:lstStyle/>
                    <a:p>
                      <a:pPr algn="ctr"/>
                      <a:r>
                        <a:rPr lang="en-US" sz="1200" dirty="0"/>
                        <a:t>Common Mode Gain</a:t>
                      </a:r>
                      <a:endParaRPr lang="en-US" sz="1200" dirty="0">
                        <a:latin typeface="Book Antiqua" panose="0204060205030503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latin typeface="Book Antiqua" panose="02040602050305030304" pitchFamily="18" charset="0"/>
                        </a:rPr>
                        <a:t>2.6dB</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4943821"/>
                  </a:ext>
                </a:extLst>
              </a:tr>
              <a:tr h="27202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Phase Margin (</a:t>
                      </a:r>
                      <a:r>
                        <a:rPr lang="el-GR" sz="1200" dirty="0"/>
                        <a:t>Φ</a:t>
                      </a:r>
                      <a:r>
                        <a:rPr lang="en-US" sz="1200" dirty="0"/>
                        <a:t>m)</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latin typeface="Book Antiqua" panose="02040602050305030304" pitchFamily="18" charset="0"/>
                        </a:rPr>
                        <a:t>61.128</a:t>
                      </a:r>
                      <a:r>
                        <a:rPr lang="en-US" sz="1200" dirty="0"/>
                        <a:t>°</a:t>
                      </a:r>
                      <a:endParaRPr lang="en-US" sz="1200" dirty="0">
                        <a:latin typeface="Book Antiqua" panose="0204060205030503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7573887"/>
                  </a:ext>
                </a:extLst>
              </a:tr>
              <a:tr h="468229">
                <a:tc>
                  <a:txBody>
                    <a:bodyPr/>
                    <a:lstStyle/>
                    <a:p>
                      <a:pPr algn="ctr"/>
                      <a:r>
                        <a:rPr lang="en-US" sz="1200" dirty="0"/>
                        <a:t>Gain Bandwidth Product (GBW)</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latin typeface="Book Antiqua" panose="02040602050305030304" pitchFamily="18" charset="0"/>
                        </a:rPr>
                        <a:t>21.5MHz</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0108286"/>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3dB Cutoff Frequency </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latin typeface="Book Antiqua" panose="02040602050305030304" pitchFamily="18" charset="0"/>
                        </a:rPr>
                        <a:t>3.135kHz</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821393"/>
                  </a:ext>
                </a:extLst>
              </a:tr>
              <a:tr h="2464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CMRR</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latin typeface="Book Antiqua" panose="02040602050305030304" pitchFamily="18" charset="0"/>
                        </a:rPr>
                        <a:t>74.4dB</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5911484"/>
                  </a:ext>
                </a:extLst>
              </a:tr>
              <a:tr h="2464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Poles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latin typeface="Book Antiqua" panose="02040602050305030304" pitchFamily="18" charset="0"/>
                          <a:ea typeface="Nirmala UI Semilight" panose="020B0402040204020203" pitchFamily="34" charset="0"/>
                          <a:cs typeface="Nirmala UI Semilight" panose="020B0402040204020203" pitchFamily="34" charset="0"/>
                        </a:rPr>
                        <a:t>1KHz,8.8MHz</a:t>
                      </a:r>
                      <a:endParaRPr lang="en-US" sz="1200" dirty="0">
                        <a:latin typeface="Book Antiqua" panose="0204060205030503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7215578"/>
                  </a:ext>
                </a:extLst>
              </a:tr>
            </a:tbl>
          </a:graphicData>
        </a:graphic>
      </p:graphicFrame>
    </p:spTree>
    <p:extLst>
      <p:ext uri="{BB962C8B-B14F-4D97-AF65-F5344CB8AC3E}">
        <p14:creationId xmlns:p14="http://schemas.microsoft.com/office/powerpoint/2010/main" val="366699315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E41EC76-976F-F416-D226-6634CD40A483}"/>
              </a:ext>
            </a:extLst>
          </p:cNvPr>
          <p:cNvSpPr>
            <a:spLocks noGrp="1"/>
          </p:cNvSpPr>
          <p:nvPr>
            <p:ph type="title"/>
          </p:nvPr>
        </p:nvSpPr>
        <p:spPr>
          <a:xfrm>
            <a:off x="615400" y="541380"/>
            <a:ext cx="7774760" cy="646200"/>
          </a:xfrm>
        </p:spPr>
        <p:txBody>
          <a:bodyPr/>
          <a:lstStyle/>
          <a:p>
            <a:pPr marL="0" indent="0" algn="ctr">
              <a:buNone/>
            </a:pPr>
            <a:r>
              <a:rPr lang="en-US" sz="1600" b="1" u="sng" dirty="0"/>
              <a:t>Design Progression of the OTA </a:t>
            </a:r>
            <a:endParaRPr lang="en-US" sz="1600" b="1" u="sng" dirty="0">
              <a:latin typeface="Book Antiqua" panose="02040602050305030304" pitchFamily="18" charset="0"/>
            </a:endParaRPr>
          </a:p>
        </p:txBody>
      </p:sp>
      <p:sp>
        <p:nvSpPr>
          <p:cNvPr id="13" name="Rectangle 12">
            <a:extLst>
              <a:ext uri="{FF2B5EF4-FFF2-40B4-BE49-F238E27FC236}">
                <a16:creationId xmlns:a16="http://schemas.microsoft.com/office/drawing/2014/main" id="{FDF2798C-7FCF-E470-2561-9626F8CD7FD4}"/>
              </a:ext>
            </a:extLst>
          </p:cNvPr>
          <p:cNvSpPr/>
          <p:nvPr/>
        </p:nvSpPr>
        <p:spPr>
          <a:xfrm>
            <a:off x="835819" y="1464469"/>
            <a:ext cx="2586037" cy="26003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Diagonal Corners Rounded 19">
            <a:extLst>
              <a:ext uri="{FF2B5EF4-FFF2-40B4-BE49-F238E27FC236}">
                <a16:creationId xmlns:a16="http://schemas.microsoft.com/office/drawing/2014/main" id="{E0DCEEE6-C615-A801-278A-DBC196C11994}"/>
              </a:ext>
            </a:extLst>
          </p:cNvPr>
          <p:cNvSpPr/>
          <p:nvPr/>
        </p:nvSpPr>
        <p:spPr>
          <a:xfrm>
            <a:off x="3577145" y="1166147"/>
            <a:ext cx="1851270" cy="1571623"/>
          </a:xfrm>
          <a:custGeom>
            <a:avLst/>
            <a:gdLst>
              <a:gd name="csX0" fmla="*/ 261942 w 1851270"/>
              <a:gd name="csY0" fmla="*/ 0 h 1571623"/>
              <a:gd name="csX1" fmla="*/ 807611 w 1851270"/>
              <a:gd name="csY1" fmla="*/ 0 h 1571623"/>
              <a:gd name="csX2" fmla="*/ 1337387 w 1851270"/>
              <a:gd name="csY2" fmla="*/ 0 h 1571623"/>
              <a:gd name="csX3" fmla="*/ 1851270 w 1851270"/>
              <a:gd name="csY3" fmla="*/ 0 h 1571623"/>
              <a:gd name="csX4" fmla="*/ 1851270 w 1851270"/>
              <a:gd name="csY4" fmla="*/ 0 h 1571623"/>
              <a:gd name="csX5" fmla="*/ 1851270 w 1851270"/>
              <a:gd name="csY5" fmla="*/ 628647 h 1571623"/>
              <a:gd name="csX6" fmla="*/ 1851270 w 1851270"/>
              <a:gd name="csY6" fmla="*/ 1309681 h 1571623"/>
              <a:gd name="csX7" fmla="*/ 1589328 w 1851270"/>
              <a:gd name="csY7" fmla="*/ 1571623 h 1571623"/>
              <a:gd name="csX8" fmla="*/ 1091339 w 1851270"/>
              <a:gd name="csY8" fmla="*/ 1571623 h 1571623"/>
              <a:gd name="csX9" fmla="*/ 577456 w 1851270"/>
              <a:gd name="csY9" fmla="*/ 1571623 h 1571623"/>
              <a:gd name="csX10" fmla="*/ 0 w 1851270"/>
              <a:gd name="csY10" fmla="*/ 1571623 h 1571623"/>
              <a:gd name="csX11" fmla="*/ 0 w 1851270"/>
              <a:gd name="csY11" fmla="*/ 1571623 h 1571623"/>
              <a:gd name="csX12" fmla="*/ 0 w 1851270"/>
              <a:gd name="csY12" fmla="*/ 890589 h 1571623"/>
              <a:gd name="csX13" fmla="*/ 0 w 1851270"/>
              <a:gd name="csY13" fmla="*/ 261942 h 1571623"/>
              <a:gd name="csX14" fmla="*/ 261942 w 1851270"/>
              <a:gd name="csY14" fmla="*/ 0 h 15716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851270" h="1571623" extrusionOk="0">
                <a:moveTo>
                  <a:pt x="261942" y="0"/>
                </a:moveTo>
                <a:cubicBezTo>
                  <a:pt x="501311" y="-7494"/>
                  <a:pt x="622611" y="-20809"/>
                  <a:pt x="807611" y="0"/>
                </a:cubicBezTo>
                <a:cubicBezTo>
                  <a:pt x="992611" y="20809"/>
                  <a:pt x="1106618" y="-15819"/>
                  <a:pt x="1337387" y="0"/>
                </a:cubicBezTo>
                <a:cubicBezTo>
                  <a:pt x="1568156" y="15819"/>
                  <a:pt x="1733240" y="23809"/>
                  <a:pt x="1851270" y="0"/>
                </a:cubicBezTo>
                <a:lnTo>
                  <a:pt x="1851270" y="0"/>
                </a:lnTo>
                <a:cubicBezTo>
                  <a:pt x="1877909" y="226259"/>
                  <a:pt x="1845229" y="402796"/>
                  <a:pt x="1851270" y="628647"/>
                </a:cubicBezTo>
                <a:cubicBezTo>
                  <a:pt x="1857311" y="854498"/>
                  <a:pt x="1872684" y="1166185"/>
                  <a:pt x="1851270" y="1309681"/>
                </a:cubicBezTo>
                <a:cubicBezTo>
                  <a:pt x="1855436" y="1459676"/>
                  <a:pt x="1730753" y="1567942"/>
                  <a:pt x="1589328" y="1571623"/>
                </a:cubicBezTo>
                <a:cubicBezTo>
                  <a:pt x="1410115" y="1556761"/>
                  <a:pt x="1284846" y="1583373"/>
                  <a:pt x="1091339" y="1571623"/>
                </a:cubicBezTo>
                <a:cubicBezTo>
                  <a:pt x="897832" y="1559873"/>
                  <a:pt x="791886" y="1594535"/>
                  <a:pt x="577456" y="1571623"/>
                </a:cubicBezTo>
                <a:cubicBezTo>
                  <a:pt x="363026" y="1548711"/>
                  <a:pt x="281725" y="1579510"/>
                  <a:pt x="0" y="1571623"/>
                </a:cubicBezTo>
                <a:lnTo>
                  <a:pt x="0" y="1571623"/>
                </a:lnTo>
                <a:cubicBezTo>
                  <a:pt x="18534" y="1419000"/>
                  <a:pt x="-20188" y="1052739"/>
                  <a:pt x="0" y="890589"/>
                </a:cubicBezTo>
                <a:cubicBezTo>
                  <a:pt x="20188" y="728439"/>
                  <a:pt x="-18377" y="506494"/>
                  <a:pt x="0" y="261942"/>
                </a:cubicBezTo>
                <a:cubicBezTo>
                  <a:pt x="-4220" y="90621"/>
                  <a:pt x="120246" y="-5996"/>
                  <a:pt x="261942" y="0"/>
                </a:cubicBezTo>
                <a:close/>
              </a:path>
            </a:pathLst>
          </a:custGeom>
          <a:noFill/>
          <a:ln>
            <a:solidFill>
              <a:schemeClr val="tx1"/>
            </a:solidFill>
            <a:extLst>
              <a:ext uri="{C807C97D-BFC1-408E-A445-0C87EB9F89A2}">
                <ask:lineSketchStyleProps xmlns:ask="http://schemas.microsoft.com/office/drawing/2018/sketchyshapes" sd="3981976421">
                  <a:prstGeom prst="round2Diag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Diagonal Corners Rounded 20">
            <a:extLst>
              <a:ext uri="{FF2B5EF4-FFF2-40B4-BE49-F238E27FC236}">
                <a16:creationId xmlns:a16="http://schemas.microsoft.com/office/drawing/2014/main" id="{5CC6432F-50E7-7EFB-F90F-2E8E61A9DC3A}"/>
              </a:ext>
            </a:extLst>
          </p:cNvPr>
          <p:cNvSpPr/>
          <p:nvPr/>
        </p:nvSpPr>
        <p:spPr>
          <a:xfrm>
            <a:off x="6536531" y="1121569"/>
            <a:ext cx="1771650" cy="1643062"/>
          </a:xfrm>
          <a:custGeom>
            <a:avLst/>
            <a:gdLst>
              <a:gd name="csX0" fmla="*/ 273849 w 1771650"/>
              <a:gd name="csY0" fmla="*/ 0 h 1643062"/>
              <a:gd name="csX1" fmla="*/ 728182 w 1771650"/>
              <a:gd name="csY1" fmla="*/ 0 h 1643062"/>
              <a:gd name="csX2" fmla="*/ 1212471 w 1771650"/>
              <a:gd name="csY2" fmla="*/ 0 h 1643062"/>
              <a:gd name="csX3" fmla="*/ 1771650 w 1771650"/>
              <a:gd name="csY3" fmla="*/ 0 h 1643062"/>
              <a:gd name="csX4" fmla="*/ 1771650 w 1771650"/>
              <a:gd name="csY4" fmla="*/ 0 h 1643062"/>
              <a:gd name="csX5" fmla="*/ 1771650 w 1771650"/>
              <a:gd name="csY5" fmla="*/ 684607 h 1643062"/>
              <a:gd name="csX6" fmla="*/ 1771650 w 1771650"/>
              <a:gd name="csY6" fmla="*/ 1369213 h 1643062"/>
              <a:gd name="csX7" fmla="*/ 1497801 w 1771650"/>
              <a:gd name="csY7" fmla="*/ 1643062 h 1643062"/>
              <a:gd name="csX8" fmla="*/ 1013512 w 1771650"/>
              <a:gd name="csY8" fmla="*/ 1643062 h 1643062"/>
              <a:gd name="csX9" fmla="*/ 499267 w 1771650"/>
              <a:gd name="csY9" fmla="*/ 1643062 h 1643062"/>
              <a:gd name="csX10" fmla="*/ 0 w 1771650"/>
              <a:gd name="csY10" fmla="*/ 1643062 h 1643062"/>
              <a:gd name="csX11" fmla="*/ 0 w 1771650"/>
              <a:gd name="csY11" fmla="*/ 1643062 h 1643062"/>
              <a:gd name="csX12" fmla="*/ 0 w 1771650"/>
              <a:gd name="csY12" fmla="*/ 985840 h 1643062"/>
              <a:gd name="csX13" fmla="*/ 0 w 1771650"/>
              <a:gd name="csY13" fmla="*/ 273849 h 1643062"/>
              <a:gd name="csX14" fmla="*/ 273849 w 1771650"/>
              <a:gd name="csY14" fmla="*/ 0 h 16430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771650" h="1643062" extrusionOk="0">
                <a:moveTo>
                  <a:pt x="273849" y="0"/>
                </a:moveTo>
                <a:cubicBezTo>
                  <a:pt x="482084" y="-20952"/>
                  <a:pt x="523370" y="-5431"/>
                  <a:pt x="728182" y="0"/>
                </a:cubicBezTo>
                <a:cubicBezTo>
                  <a:pt x="932994" y="5431"/>
                  <a:pt x="1076501" y="-14562"/>
                  <a:pt x="1212471" y="0"/>
                </a:cubicBezTo>
                <a:cubicBezTo>
                  <a:pt x="1348441" y="14562"/>
                  <a:pt x="1638756" y="7046"/>
                  <a:pt x="1771650" y="0"/>
                </a:cubicBezTo>
                <a:lnTo>
                  <a:pt x="1771650" y="0"/>
                </a:lnTo>
                <a:cubicBezTo>
                  <a:pt x="1804982" y="228352"/>
                  <a:pt x="1759730" y="492118"/>
                  <a:pt x="1771650" y="684607"/>
                </a:cubicBezTo>
                <a:cubicBezTo>
                  <a:pt x="1783570" y="877096"/>
                  <a:pt x="1797743" y="1180533"/>
                  <a:pt x="1771650" y="1369213"/>
                </a:cubicBezTo>
                <a:cubicBezTo>
                  <a:pt x="1806842" y="1512404"/>
                  <a:pt x="1656516" y="1660615"/>
                  <a:pt x="1497801" y="1643062"/>
                </a:cubicBezTo>
                <a:cubicBezTo>
                  <a:pt x="1307105" y="1654085"/>
                  <a:pt x="1188152" y="1630647"/>
                  <a:pt x="1013512" y="1643062"/>
                </a:cubicBezTo>
                <a:cubicBezTo>
                  <a:pt x="838872" y="1655477"/>
                  <a:pt x="698671" y="1667141"/>
                  <a:pt x="499267" y="1643062"/>
                </a:cubicBezTo>
                <a:cubicBezTo>
                  <a:pt x="299863" y="1618983"/>
                  <a:pt x="236564" y="1628218"/>
                  <a:pt x="0" y="1643062"/>
                </a:cubicBezTo>
                <a:lnTo>
                  <a:pt x="0" y="1643062"/>
                </a:lnTo>
                <a:cubicBezTo>
                  <a:pt x="3962" y="1330924"/>
                  <a:pt x="-11246" y="1224129"/>
                  <a:pt x="0" y="985840"/>
                </a:cubicBezTo>
                <a:cubicBezTo>
                  <a:pt x="11246" y="747551"/>
                  <a:pt x="-27649" y="442862"/>
                  <a:pt x="0" y="273849"/>
                </a:cubicBezTo>
                <a:cubicBezTo>
                  <a:pt x="-8249" y="139314"/>
                  <a:pt x="126909" y="4557"/>
                  <a:pt x="273849" y="0"/>
                </a:cubicBezTo>
                <a:close/>
              </a:path>
            </a:pathLst>
          </a:custGeom>
          <a:noFill/>
          <a:ln>
            <a:solidFill>
              <a:schemeClr val="tx1"/>
            </a:solidFill>
            <a:extLst>
              <a:ext uri="{C807C97D-BFC1-408E-A445-0C87EB9F89A2}">
                <ask:lineSketchStyleProps xmlns:ask="http://schemas.microsoft.com/office/drawing/2018/sketchyshapes" sd="2283951036">
                  <a:prstGeom prst="round2Diag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Diagonal Corners Rounded 18">
            <a:extLst>
              <a:ext uri="{FF2B5EF4-FFF2-40B4-BE49-F238E27FC236}">
                <a16:creationId xmlns:a16="http://schemas.microsoft.com/office/drawing/2014/main" id="{F9451F49-42EE-5D56-449E-2CF6C270F07B}"/>
              </a:ext>
            </a:extLst>
          </p:cNvPr>
          <p:cNvSpPr/>
          <p:nvPr/>
        </p:nvSpPr>
        <p:spPr>
          <a:xfrm>
            <a:off x="935831" y="1166148"/>
            <a:ext cx="1664494" cy="1571623"/>
          </a:xfrm>
          <a:custGeom>
            <a:avLst/>
            <a:gdLst>
              <a:gd name="csX0" fmla="*/ 261942 w 1664494"/>
              <a:gd name="csY0" fmla="*/ 0 h 1571623"/>
              <a:gd name="csX1" fmla="*/ 715434 w 1664494"/>
              <a:gd name="csY1" fmla="*/ 0 h 1571623"/>
              <a:gd name="csX2" fmla="*/ 1154900 w 1664494"/>
              <a:gd name="csY2" fmla="*/ 0 h 1571623"/>
              <a:gd name="csX3" fmla="*/ 1664494 w 1664494"/>
              <a:gd name="csY3" fmla="*/ 0 h 1571623"/>
              <a:gd name="csX4" fmla="*/ 1664494 w 1664494"/>
              <a:gd name="csY4" fmla="*/ 0 h 1571623"/>
              <a:gd name="csX5" fmla="*/ 1664494 w 1664494"/>
              <a:gd name="csY5" fmla="*/ 615550 h 1571623"/>
              <a:gd name="csX6" fmla="*/ 1664494 w 1664494"/>
              <a:gd name="csY6" fmla="*/ 1309681 h 1571623"/>
              <a:gd name="csX7" fmla="*/ 1402552 w 1664494"/>
              <a:gd name="csY7" fmla="*/ 1571623 h 1571623"/>
              <a:gd name="csX8" fmla="*/ 935035 w 1664494"/>
              <a:gd name="csY8" fmla="*/ 1571623 h 1571623"/>
              <a:gd name="csX9" fmla="*/ 495568 w 1664494"/>
              <a:gd name="csY9" fmla="*/ 1571623 h 1571623"/>
              <a:gd name="csX10" fmla="*/ 0 w 1664494"/>
              <a:gd name="csY10" fmla="*/ 1571623 h 1571623"/>
              <a:gd name="csX11" fmla="*/ 0 w 1664494"/>
              <a:gd name="csY11" fmla="*/ 1571623 h 1571623"/>
              <a:gd name="csX12" fmla="*/ 0 w 1664494"/>
              <a:gd name="csY12" fmla="*/ 916783 h 1571623"/>
              <a:gd name="csX13" fmla="*/ 0 w 1664494"/>
              <a:gd name="csY13" fmla="*/ 261942 h 1571623"/>
              <a:gd name="csX14" fmla="*/ 261942 w 1664494"/>
              <a:gd name="csY14" fmla="*/ 0 h 15716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4494" h="1571623" extrusionOk="0">
                <a:moveTo>
                  <a:pt x="261942" y="0"/>
                </a:moveTo>
                <a:cubicBezTo>
                  <a:pt x="440546" y="2964"/>
                  <a:pt x="574594" y="-19915"/>
                  <a:pt x="715434" y="0"/>
                </a:cubicBezTo>
                <a:cubicBezTo>
                  <a:pt x="856274" y="19915"/>
                  <a:pt x="1030139" y="-14305"/>
                  <a:pt x="1154900" y="0"/>
                </a:cubicBezTo>
                <a:cubicBezTo>
                  <a:pt x="1279661" y="14305"/>
                  <a:pt x="1429502" y="-8684"/>
                  <a:pt x="1664494" y="0"/>
                </a:cubicBezTo>
                <a:lnTo>
                  <a:pt x="1664494" y="0"/>
                </a:lnTo>
                <a:cubicBezTo>
                  <a:pt x="1674334" y="183223"/>
                  <a:pt x="1659556" y="378036"/>
                  <a:pt x="1664494" y="615550"/>
                </a:cubicBezTo>
                <a:cubicBezTo>
                  <a:pt x="1669433" y="853064"/>
                  <a:pt x="1660243" y="1117318"/>
                  <a:pt x="1664494" y="1309681"/>
                </a:cubicBezTo>
                <a:cubicBezTo>
                  <a:pt x="1687426" y="1435424"/>
                  <a:pt x="1525267" y="1590900"/>
                  <a:pt x="1402552" y="1571623"/>
                </a:cubicBezTo>
                <a:cubicBezTo>
                  <a:pt x="1227899" y="1590973"/>
                  <a:pt x="1138732" y="1550010"/>
                  <a:pt x="935035" y="1571623"/>
                </a:cubicBezTo>
                <a:cubicBezTo>
                  <a:pt x="731338" y="1593236"/>
                  <a:pt x="607257" y="1570189"/>
                  <a:pt x="495568" y="1571623"/>
                </a:cubicBezTo>
                <a:cubicBezTo>
                  <a:pt x="383879" y="1573057"/>
                  <a:pt x="198099" y="1547829"/>
                  <a:pt x="0" y="1571623"/>
                </a:cubicBezTo>
                <a:lnTo>
                  <a:pt x="0" y="1571623"/>
                </a:lnTo>
                <a:cubicBezTo>
                  <a:pt x="26726" y="1366861"/>
                  <a:pt x="25980" y="1177680"/>
                  <a:pt x="0" y="916783"/>
                </a:cubicBezTo>
                <a:cubicBezTo>
                  <a:pt x="-25980" y="655886"/>
                  <a:pt x="23738" y="398769"/>
                  <a:pt x="0" y="261942"/>
                </a:cubicBezTo>
                <a:cubicBezTo>
                  <a:pt x="-5520" y="128336"/>
                  <a:pt x="108567" y="8162"/>
                  <a:pt x="261942" y="0"/>
                </a:cubicBezTo>
                <a:close/>
              </a:path>
            </a:pathLst>
          </a:custGeom>
          <a:noFill/>
          <a:ln>
            <a:solidFill>
              <a:schemeClr val="tx1"/>
            </a:solidFill>
            <a:extLst>
              <a:ext uri="{C807C97D-BFC1-408E-A445-0C87EB9F89A2}">
                <ask:lineSketchStyleProps xmlns:ask="http://schemas.microsoft.com/office/drawing/2018/sketchyshapes" sd="548226580">
                  <a:prstGeom prst="round2Diag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77C3ECFE-3777-3F68-4D7A-A79B86BE4157}"/>
              </a:ext>
            </a:extLst>
          </p:cNvPr>
          <p:cNvSpPr txBox="1"/>
          <p:nvPr/>
        </p:nvSpPr>
        <p:spPr>
          <a:xfrm>
            <a:off x="1014169" y="1812348"/>
            <a:ext cx="1726914" cy="830997"/>
          </a:xfrm>
          <a:prstGeom prst="rect">
            <a:avLst/>
          </a:prstGeom>
          <a:noFill/>
        </p:spPr>
        <p:txBody>
          <a:bodyPr wrap="square" rtlCol="0">
            <a:spAutoFit/>
          </a:bodyPr>
          <a:lstStyle/>
          <a:p>
            <a:r>
              <a:rPr lang="en-US" sz="1200" b="1" dirty="0">
                <a:latin typeface="Nirmala UI Semilight" panose="020B0402040204020203" pitchFamily="34" charset="0"/>
                <a:ea typeface="Nirmala UI Semilight" panose="020B0402040204020203" pitchFamily="34" charset="0"/>
                <a:cs typeface="Nirmala UI Semilight" panose="020B0402040204020203" pitchFamily="34" charset="0"/>
              </a:rPr>
              <a:t>DC gain </a:t>
            </a:r>
            <a:r>
              <a:rPr lang="en-US" sz="1200" dirty="0">
                <a:latin typeface="Nirmala UI Semilight" panose="020B0402040204020203" pitchFamily="34" charset="0"/>
                <a:ea typeface="Nirmala UI Semilight" panose="020B0402040204020203" pitchFamily="34" charset="0"/>
                <a:cs typeface="Nirmala UI Semilight" panose="020B0402040204020203" pitchFamily="34" charset="0"/>
              </a:rPr>
              <a:t>≈ 39.5dB</a:t>
            </a:r>
          </a:p>
          <a:p>
            <a:r>
              <a:rPr lang="en-US" sz="1200" b="1" dirty="0">
                <a:latin typeface="Nirmala UI Semilight" panose="020B0402040204020203" pitchFamily="34" charset="0"/>
                <a:ea typeface="Nirmala UI Semilight" panose="020B0402040204020203" pitchFamily="34" charset="0"/>
                <a:cs typeface="Nirmala UI Semilight" panose="020B0402040204020203" pitchFamily="34" charset="0"/>
              </a:rPr>
              <a:t>Pole</a:t>
            </a:r>
            <a:r>
              <a:rPr lang="en-US" sz="1200" dirty="0">
                <a:latin typeface="Nirmala UI Semilight" panose="020B0402040204020203" pitchFamily="34" charset="0"/>
                <a:ea typeface="Nirmala UI Semilight" panose="020B0402040204020203" pitchFamily="34" charset="0"/>
                <a:cs typeface="Nirmala UI Semilight" panose="020B0402040204020203" pitchFamily="34" charset="0"/>
              </a:rPr>
              <a:t> ≈ 135KHz</a:t>
            </a:r>
          </a:p>
          <a:p>
            <a:r>
              <a:rPr lang="en-US" sz="1200" b="1" dirty="0">
                <a:latin typeface="Nirmala UI Semilight" panose="020B0402040204020203" pitchFamily="34" charset="0"/>
                <a:ea typeface="Nirmala UI Semilight" panose="020B0402040204020203" pitchFamily="34" charset="0"/>
                <a:cs typeface="Nirmala UI Semilight" panose="020B0402040204020203" pitchFamily="34" charset="0"/>
              </a:rPr>
              <a:t>UGF</a:t>
            </a:r>
            <a:r>
              <a:rPr lang="en-US" sz="1200" dirty="0">
                <a:latin typeface="Nirmala UI Semilight" panose="020B0402040204020203" pitchFamily="34" charset="0"/>
                <a:ea typeface="Nirmala UI Semilight" panose="020B0402040204020203" pitchFamily="34" charset="0"/>
                <a:cs typeface="Nirmala UI Semilight" panose="020B0402040204020203" pitchFamily="34" charset="0"/>
              </a:rPr>
              <a:t> = 12.329MHz</a:t>
            </a:r>
          </a:p>
          <a:p>
            <a:r>
              <a:rPr lang="en-US" sz="1200" b="1" dirty="0">
                <a:latin typeface="Nirmala UI Semilight" panose="020B0402040204020203" pitchFamily="34" charset="0"/>
                <a:ea typeface="Nirmala UI Semilight" panose="020B0402040204020203" pitchFamily="34" charset="0"/>
                <a:cs typeface="Nirmala UI Semilight" panose="020B0402040204020203" pitchFamily="34" charset="0"/>
              </a:rPr>
              <a:t>PM</a:t>
            </a:r>
            <a:r>
              <a:rPr lang="en-US" sz="1200" dirty="0">
                <a:latin typeface="Nirmala UI Semilight" panose="020B0402040204020203" pitchFamily="34" charset="0"/>
                <a:ea typeface="Nirmala UI Semilight" panose="020B0402040204020203" pitchFamily="34" charset="0"/>
                <a:cs typeface="Nirmala UI Semilight" panose="020B0402040204020203" pitchFamily="34" charset="0"/>
              </a:rPr>
              <a:t> = 87.224°</a:t>
            </a:r>
          </a:p>
        </p:txBody>
      </p:sp>
      <p:sp>
        <p:nvSpPr>
          <p:cNvPr id="24" name="TextBox 23">
            <a:extLst>
              <a:ext uri="{FF2B5EF4-FFF2-40B4-BE49-F238E27FC236}">
                <a16:creationId xmlns:a16="http://schemas.microsoft.com/office/drawing/2014/main" id="{1DDD716C-B7BA-4177-B7D6-C723843C1F0E}"/>
              </a:ext>
            </a:extLst>
          </p:cNvPr>
          <p:cNvSpPr txBox="1"/>
          <p:nvPr/>
        </p:nvSpPr>
        <p:spPr>
          <a:xfrm>
            <a:off x="3742287" y="1853197"/>
            <a:ext cx="1621632" cy="830997"/>
          </a:xfrm>
          <a:prstGeom prst="rect">
            <a:avLst/>
          </a:prstGeom>
          <a:noFill/>
        </p:spPr>
        <p:txBody>
          <a:bodyPr wrap="square" rtlCol="0">
            <a:spAutoFit/>
          </a:bodyPr>
          <a:lstStyle/>
          <a:p>
            <a:r>
              <a:rPr lang="en-US" sz="1200" b="1" dirty="0">
                <a:latin typeface="Nirmala UI Semilight" panose="020B0402040204020203" pitchFamily="34" charset="0"/>
                <a:ea typeface="Nirmala UI Semilight" panose="020B0402040204020203" pitchFamily="34" charset="0"/>
                <a:cs typeface="Nirmala UI Semilight" panose="020B0402040204020203" pitchFamily="34" charset="0"/>
              </a:rPr>
              <a:t>DC gain </a:t>
            </a:r>
            <a:r>
              <a:rPr lang="en-US" sz="1200" dirty="0">
                <a:latin typeface="Nirmala UI Semilight" panose="020B0402040204020203" pitchFamily="34" charset="0"/>
                <a:ea typeface="Nirmala UI Semilight" panose="020B0402040204020203" pitchFamily="34" charset="0"/>
                <a:cs typeface="Nirmala UI Semilight" panose="020B0402040204020203" pitchFamily="34" charset="0"/>
              </a:rPr>
              <a:t>≈ 78dB</a:t>
            </a:r>
          </a:p>
          <a:p>
            <a:r>
              <a:rPr lang="en-US" sz="1200" b="1" dirty="0">
                <a:latin typeface="Nirmala UI Semilight" panose="020B0402040204020203" pitchFamily="34" charset="0"/>
                <a:ea typeface="Nirmala UI Semilight" panose="020B0402040204020203" pitchFamily="34" charset="0"/>
                <a:cs typeface="Nirmala UI Semilight" panose="020B0402040204020203" pitchFamily="34" charset="0"/>
              </a:rPr>
              <a:t>Poles</a:t>
            </a:r>
            <a:r>
              <a:rPr lang="en-US" sz="1200" dirty="0">
                <a:latin typeface="Nirmala UI Semilight" panose="020B0402040204020203" pitchFamily="34" charset="0"/>
                <a:ea typeface="Nirmala UI Semilight" panose="020B0402040204020203" pitchFamily="34" charset="0"/>
                <a:cs typeface="Nirmala UI Semilight" panose="020B0402040204020203" pitchFamily="34" charset="0"/>
              </a:rPr>
              <a:t> ≈ 10KHz,3MHz </a:t>
            </a:r>
          </a:p>
          <a:p>
            <a:r>
              <a:rPr lang="en-US" sz="1200" b="1" dirty="0">
                <a:latin typeface="Nirmala UI Semilight" panose="020B0402040204020203" pitchFamily="34" charset="0"/>
                <a:ea typeface="Nirmala UI Semilight" panose="020B0402040204020203" pitchFamily="34" charset="0"/>
                <a:cs typeface="Nirmala UI Semilight" panose="020B0402040204020203" pitchFamily="34" charset="0"/>
              </a:rPr>
              <a:t>UGF</a:t>
            </a:r>
            <a:r>
              <a:rPr lang="en-US" sz="1200" dirty="0">
                <a:latin typeface="Nirmala UI Semilight" panose="020B0402040204020203" pitchFamily="34" charset="0"/>
                <a:ea typeface="Nirmala UI Semilight" panose="020B0402040204020203" pitchFamily="34" charset="0"/>
                <a:cs typeface="Nirmala UI Semilight" panose="020B0402040204020203" pitchFamily="34" charset="0"/>
              </a:rPr>
              <a:t> =54MHz</a:t>
            </a:r>
          </a:p>
          <a:p>
            <a:r>
              <a:rPr lang="en-US" sz="1200" b="1" dirty="0">
                <a:latin typeface="Nirmala UI Semilight" panose="020B0402040204020203" pitchFamily="34" charset="0"/>
                <a:ea typeface="Nirmala UI Semilight" panose="020B0402040204020203" pitchFamily="34" charset="0"/>
                <a:cs typeface="Nirmala UI Semilight" panose="020B0402040204020203" pitchFamily="34" charset="0"/>
              </a:rPr>
              <a:t>PM = </a:t>
            </a:r>
            <a:r>
              <a:rPr lang="en-US" sz="1200" dirty="0">
                <a:latin typeface="Nirmala UI Semilight" panose="020B0402040204020203" pitchFamily="34" charset="0"/>
                <a:ea typeface="Nirmala UI Semilight" panose="020B0402040204020203" pitchFamily="34" charset="0"/>
                <a:cs typeface="Nirmala UI Semilight" panose="020B0402040204020203" pitchFamily="34" charset="0"/>
              </a:rPr>
              <a:t>=  -21 °</a:t>
            </a:r>
          </a:p>
        </p:txBody>
      </p:sp>
      <p:sp>
        <p:nvSpPr>
          <p:cNvPr id="25" name="TextBox 24">
            <a:extLst>
              <a:ext uri="{FF2B5EF4-FFF2-40B4-BE49-F238E27FC236}">
                <a16:creationId xmlns:a16="http://schemas.microsoft.com/office/drawing/2014/main" id="{33DDA425-0E74-8BD3-7D09-4F8EAC2CE40C}"/>
              </a:ext>
            </a:extLst>
          </p:cNvPr>
          <p:cNvSpPr txBox="1"/>
          <p:nvPr/>
        </p:nvSpPr>
        <p:spPr>
          <a:xfrm>
            <a:off x="6628622" y="1812347"/>
            <a:ext cx="1626642" cy="830997"/>
          </a:xfrm>
          <a:prstGeom prst="rect">
            <a:avLst/>
          </a:prstGeom>
          <a:noFill/>
        </p:spPr>
        <p:txBody>
          <a:bodyPr wrap="square" rtlCol="0">
            <a:spAutoFit/>
          </a:bodyPr>
          <a:lstStyle/>
          <a:p>
            <a:r>
              <a:rPr lang="en-US" sz="1200" b="1" dirty="0">
                <a:latin typeface="Nirmala UI Semilight" panose="020B0402040204020203" pitchFamily="34" charset="0"/>
                <a:ea typeface="Nirmala UI Semilight" panose="020B0402040204020203" pitchFamily="34" charset="0"/>
                <a:cs typeface="Nirmala UI Semilight" panose="020B0402040204020203" pitchFamily="34" charset="0"/>
              </a:rPr>
              <a:t>DC gain </a:t>
            </a:r>
            <a:r>
              <a:rPr lang="en-US" sz="1200" dirty="0">
                <a:latin typeface="Nirmala UI Semilight" panose="020B0402040204020203" pitchFamily="34" charset="0"/>
                <a:ea typeface="Nirmala UI Semilight" panose="020B0402040204020203" pitchFamily="34" charset="0"/>
                <a:cs typeface="Nirmala UI Semilight" panose="020B0402040204020203" pitchFamily="34" charset="0"/>
              </a:rPr>
              <a:t>≈ 78dB</a:t>
            </a:r>
          </a:p>
          <a:p>
            <a:r>
              <a:rPr lang="en-US" sz="1200" b="1" dirty="0">
                <a:latin typeface="Nirmala UI Semilight" panose="020B0402040204020203" pitchFamily="34" charset="0"/>
                <a:ea typeface="Nirmala UI Semilight" panose="020B0402040204020203" pitchFamily="34" charset="0"/>
                <a:cs typeface="Nirmala UI Semilight" panose="020B0402040204020203" pitchFamily="34" charset="0"/>
              </a:rPr>
              <a:t>Poles</a:t>
            </a:r>
            <a:r>
              <a:rPr lang="en-US" sz="1200" dirty="0">
                <a:latin typeface="Nirmala UI Semilight" panose="020B0402040204020203" pitchFamily="34" charset="0"/>
                <a:ea typeface="Nirmala UI Semilight" panose="020B0402040204020203" pitchFamily="34" charset="0"/>
                <a:cs typeface="Nirmala UI Semilight" panose="020B0402040204020203" pitchFamily="34" charset="0"/>
              </a:rPr>
              <a:t> ≈ 1KHz,8.8MHz</a:t>
            </a:r>
          </a:p>
          <a:p>
            <a:r>
              <a:rPr lang="en-US" sz="1200" b="1" dirty="0">
                <a:latin typeface="Nirmala UI Semilight" panose="020B0402040204020203" pitchFamily="34" charset="0"/>
                <a:ea typeface="Nirmala UI Semilight" panose="020B0402040204020203" pitchFamily="34" charset="0"/>
                <a:cs typeface="Nirmala UI Semilight" panose="020B0402040204020203" pitchFamily="34" charset="0"/>
              </a:rPr>
              <a:t>UGF</a:t>
            </a:r>
            <a:r>
              <a:rPr lang="en-US" sz="1200" dirty="0">
                <a:latin typeface="Nirmala UI Semilight" panose="020B0402040204020203" pitchFamily="34" charset="0"/>
                <a:ea typeface="Nirmala UI Semilight" panose="020B0402040204020203" pitchFamily="34" charset="0"/>
                <a:cs typeface="Nirmala UI Semilight" panose="020B0402040204020203" pitchFamily="34" charset="0"/>
              </a:rPr>
              <a:t> = 21.581MHz</a:t>
            </a:r>
          </a:p>
          <a:p>
            <a:r>
              <a:rPr lang="en-US" sz="1200" b="1" dirty="0">
                <a:latin typeface="Nirmala UI Semilight" panose="020B0402040204020203" pitchFamily="34" charset="0"/>
                <a:ea typeface="Nirmala UI Semilight" panose="020B0402040204020203" pitchFamily="34" charset="0"/>
                <a:cs typeface="Nirmala UI Semilight" panose="020B0402040204020203" pitchFamily="34" charset="0"/>
              </a:rPr>
              <a:t>PM</a:t>
            </a:r>
            <a:r>
              <a:rPr lang="en-US" sz="1200" dirty="0">
                <a:latin typeface="Nirmala UI Semilight" panose="020B0402040204020203" pitchFamily="34" charset="0"/>
                <a:ea typeface="Nirmala UI Semilight" panose="020B0402040204020203" pitchFamily="34" charset="0"/>
                <a:cs typeface="Nirmala UI Semilight" panose="020B0402040204020203" pitchFamily="34" charset="0"/>
              </a:rPr>
              <a:t> = 61.128°</a:t>
            </a:r>
          </a:p>
        </p:txBody>
      </p:sp>
      <p:sp>
        <p:nvSpPr>
          <p:cNvPr id="26" name="TextBox 25">
            <a:extLst>
              <a:ext uri="{FF2B5EF4-FFF2-40B4-BE49-F238E27FC236}">
                <a16:creationId xmlns:a16="http://schemas.microsoft.com/office/drawing/2014/main" id="{1E88ACB1-C4E8-7237-31A2-AFB83D91B2A9}"/>
              </a:ext>
            </a:extLst>
          </p:cNvPr>
          <p:cNvSpPr txBox="1"/>
          <p:nvPr/>
        </p:nvSpPr>
        <p:spPr>
          <a:xfrm>
            <a:off x="3742287" y="1272973"/>
            <a:ext cx="1825432" cy="523220"/>
          </a:xfrm>
          <a:prstGeom prst="rect">
            <a:avLst/>
          </a:prstGeom>
          <a:noFill/>
        </p:spPr>
        <p:txBody>
          <a:bodyPr wrap="square" rtlCol="0">
            <a:spAutoFit/>
          </a:bodyPr>
          <a:lstStyle/>
          <a:p>
            <a:r>
              <a:rPr lang="en-US" sz="1400" b="1" i="1" u="sng" dirty="0">
                <a:latin typeface="Nirmala UI Semilight" panose="020B0402040204020203" pitchFamily="34" charset="0"/>
                <a:ea typeface="Nirmala UI Semilight" panose="020B0402040204020203" pitchFamily="34" charset="0"/>
                <a:cs typeface="Nirmala UI Semilight" panose="020B0402040204020203" pitchFamily="34" charset="0"/>
              </a:rPr>
              <a:t>2 Stage without compensation</a:t>
            </a:r>
          </a:p>
        </p:txBody>
      </p:sp>
      <p:sp>
        <p:nvSpPr>
          <p:cNvPr id="27" name="TextBox 26">
            <a:extLst>
              <a:ext uri="{FF2B5EF4-FFF2-40B4-BE49-F238E27FC236}">
                <a16:creationId xmlns:a16="http://schemas.microsoft.com/office/drawing/2014/main" id="{A7B4708D-E3F3-DE5C-CFF6-CA7AA56A6637}"/>
              </a:ext>
            </a:extLst>
          </p:cNvPr>
          <p:cNvSpPr txBox="1"/>
          <p:nvPr/>
        </p:nvSpPr>
        <p:spPr>
          <a:xfrm>
            <a:off x="1165495" y="1389426"/>
            <a:ext cx="1146572" cy="307777"/>
          </a:xfrm>
          <a:prstGeom prst="rect">
            <a:avLst/>
          </a:prstGeom>
          <a:noFill/>
        </p:spPr>
        <p:txBody>
          <a:bodyPr wrap="square" rtlCol="0">
            <a:spAutoFit/>
          </a:bodyPr>
          <a:lstStyle/>
          <a:p>
            <a:r>
              <a:rPr lang="en-US" sz="1400" b="1" i="1" u="sng" dirty="0">
                <a:latin typeface="Nirmala UI Semilight" panose="020B0402040204020203" pitchFamily="34" charset="0"/>
                <a:ea typeface="Nirmala UI Semilight" panose="020B0402040204020203" pitchFamily="34" charset="0"/>
                <a:cs typeface="Nirmala UI Semilight" panose="020B0402040204020203" pitchFamily="34" charset="0"/>
              </a:rPr>
              <a:t>Single Stage</a:t>
            </a:r>
          </a:p>
        </p:txBody>
      </p:sp>
      <p:sp>
        <p:nvSpPr>
          <p:cNvPr id="28" name="TextBox 27">
            <a:extLst>
              <a:ext uri="{FF2B5EF4-FFF2-40B4-BE49-F238E27FC236}">
                <a16:creationId xmlns:a16="http://schemas.microsoft.com/office/drawing/2014/main" id="{2B6E08F9-1057-D4D1-5900-732E6F491B9F}"/>
              </a:ext>
            </a:extLst>
          </p:cNvPr>
          <p:cNvSpPr txBox="1"/>
          <p:nvPr/>
        </p:nvSpPr>
        <p:spPr>
          <a:xfrm>
            <a:off x="6798519" y="1230111"/>
            <a:ext cx="1825432" cy="523220"/>
          </a:xfrm>
          <a:prstGeom prst="rect">
            <a:avLst/>
          </a:prstGeom>
          <a:noFill/>
        </p:spPr>
        <p:txBody>
          <a:bodyPr wrap="square" rtlCol="0">
            <a:spAutoFit/>
          </a:bodyPr>
          <a:lstStyle/>
          <a:p>
            <a:r>
              <a:rPr lang="en-US" sz="1400" b="1" i="1" u="sng" dirty="0">
                <a:latin typeface="Nirmala UI Semilight" panose="020B0402040204020203" pitchFamily="34" charset="0"/>
                <a:ea typeface="Nirmala UI Semilight" panose="020B0402040204020203" pitchFamily="34" charset="0"/>
                <a:cs typeface="Nirmala UI Semilight" panose="020B0402040204020203" pitchFamily="34" charset="0"/>
              </a:rPr>
              <a:t>2 Stage with compensation</a:t>
            </a:r>
          </a:p>
        </p:txBody>
      </p:sp>
      <p:sp>
        <p:nvSpPr>
          <p:cNvPr id="29" name="Arrow: Right 28">
            <a:extLst>
              <a:ext uri="{FF2B5EF4-FFF2-40B4-BE49-F238E27FC236}">
                <a16:creationId xmlns:a16="http://schemas.microsoft.com/office/drawing/2014/main" id="{67F286BA-C9EF-C1FA-CF50-9A126A9BF936}"/>
              </a:ext>
            </a:extLst>
          </p:cNvPr>
          <p:cNvSpPr/>
          <p:nvPr/>
        </p:nvSpPr>
        <p:spPr>
          <a:xfrm>
            <a:off x="2811576" y="1699928"/>
            <a:ext cx="657712" cy="532352"/>
          </a:xfrm>
          <a:prstGeom prst="rightArrow">
            <a:avLst/>
          </a:prstGeom>
          <a:effectLst>
            <a:outerShdw blurRad="50800" dist="38100" dir="13500000" algn="br"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1" name="Arrow: Right 30">
            <a:extLst>
              <a:ext uri="{FF2B5EF4-FFF2-40B4-BE49-F238E27FC236}">
                <a16:creationId xmlns:a16="http://schemas.microsoft.com/office/drawing/2014/main" id="{4E888C75-DFC2-A211-9A0C-F580DD4CF3A1}"/>
              </a:ext>
            </a:extLst>
          </p:cNvPr>
          <p:cNvSpPr/>
          <p:nvPr/>
        </p:nvSpPr>
        <p:spPr>
          <a:xfrm>
            <a:off x="5676115" y="1676924"/>
            <a:ext cx="657712" cy="532352"/>
          </a:xfrm>
          <a:prstGeom prst="rightArrow">
            <a:avLst/>
          </a:prstGeom>
          <a:effectLst>
            <a:outerShdw blurRad="50800" dist="38100" dir="13500000" algn="br"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Rectangle 5">
            <a:extLst>
              <a:ext uri="{FF2B5EF4-FFF2-40B4-BE49-F238E27FC236}">
                <a16:creationId xmlns:a16="http://schemas.microsoft.com/office/drawing/2014/main" id="{B4DDFEF6-D0F2-6705-199D-EB5E3A07E60C}"/>
              </a:ext>
            </a:extLst>
          </p:cNvPr>
          <p:cNvSpPr>
            <a:spLocks noChangeArrowheads="1"/>
          </p:cNvSpPr>
          <p:nvPr/>
        </p:nvSpPr>
        <p:spPr bwMode="auto">
          <a:xfrm>
            <a:off x="373829" y="3008943"/>
            <a:ext cx="8396342"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Nirmala Text Semilight" panose="020B0402040204020203" pitchFamily="34" charset="0"/>
                <a:ea typeface="Nirmala Text Semilight" panose="020B0402040204020203" pitchFamily="34" charset="0"/>
                <a:cs typeface="Nirmala Text Semilight" panose="020B0402040204020203" pitchFamily="34" charset="0"/>
              </a:rPr>
              <a:t>The addition of the second stage increases the overall gain of the OTA.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Nirmala Text Semilight" panose="020B0402040204020203" pitchFamily="34" charset="0"/>
                <a:ea typeface="Nirmala Text Semilight" panose="020B0402040204020203" pitchFamily="34" charset="0"/>
                <a:cs typeface="Nirmala Text Semilight" panose="020B0402040204020203" pitchFamily="34" charset="0"/>
              </a:rPr>
              <a:t>However, the presence of multiple poles makes the amplifier unstable. </a:t>
            </a:r>
          </a:p>
          <a:p>
            <a:pPr lvl="0" eaLnBrk="0" fontAlgn="base" hangingPunct="0">
              <a:spcBef>
                <a:spcPct val="0"/>
              </a:spcBef>
              <a:spcAft>
                <a:spcPct val="0"/>
              </a:spcAft>
              <a:buFontTx/>
              <a:buChar char="•"/>
            </a:pPr>
            <a:r>
              <a:rPr kumimoji="0" lang="en-US" altLang="en-US" sz="1400" b="0" i="0" u="none" strike="noStrike" cap="none" normalizeH="0" baseline="0" dirty="0">
                <a:ln>
                  <a:noFill/>
                </a:ln>
                <a:solidFill>
                  <a:schemeClr val="tx1"/>
                </a:solidFill>
                <a:effectLst/>
                <a:latin typeface="Nirmala Text Semilight" panose="020B0402040204020203" pitchFamily="34" charset="0"/>
                <a:ea typeface="Nirmala Text Semilight" panose="020B0402040204020203" pitchFamily="34" charset="0"/>
                <a:cs typeface="Nirmala Text Semilight" panose="020B0402040204020203" pitchFamily="34" charset="0"/>
              </a:rPr>
              <a:t>Therefore, a compensation capacitor is introduced to stabilize the system while maintaining high gain </a:t>
            </a:r>
          </a:p>
          <a:p>
            <a:pPr lvl="0" eaLnBrk="0" fontAlgn="base" hangingPunct="0">
              <a:spcBef>
                <a:spcPct val="0"/>
              </a:spcBef>
              <a:spcAft>
                <a:spcPct val="0"/>
              </a:spcAft>
              <a:buFontTx/>
              <a:buChar char="•"/>
            </a:pPr>
            <a:r>
              <a:rPr lang="en-US" sz="1400" dirty="0">
                <a:latin typeface="Nirmala Text Semilight" panose="020B0402040204020203" pitchFamily="34" charset="0"/>
                <a:ea typeface="Nirmala Text Semilight" panose="020B0402040204020203" pitchFamily="34" charset="0"/>
                <a:cs typeface="Nirmala Text Semilight" panose="020B0402040204020203" pitchFamily="34" charset="0"/>
              </a:rPr>
              <a:t>Furthermore, it is observed that the dominant pole shifts to a lower frequency while the non-dominant pole moves to a higher frequency due to </a:t>
            </a:r>
            <a:r>
              <a:rPr lang="en-US" sz="1400" b="1" dirty="0">
                <a:latin typeface="Nirmala Text Semilight" panose="020B0402040204020203" pitchFamily="34" charset="0"/>
                <a:ea typeface="Nirmala Text Semilight" panose="020B0402040204020203" pitchFamily="34" charset="0"/>
                <a:cs typeface="Nirmala Text Semilight" panose="020B0402040204020203" pitchFamily="34" charset="0"/>
              </a:rPr>
              <a:t>pole splitting</a:t>
            </a:r>
            <a:r>
              <a:rPr lang="en-US" sz="1400" dirty="0">
                <a:latin typeface="Nirmala Text Semilight" panose="020B0402040204020203" pitchFamily="34" charset="0"/>
                <a:ea typeface="Nirmala Text Semilight" panose="020B0402040204020203" pitchFamily="34" charset="0"/>
                <a:cs typeface="Nirmala Text Semilight" panose="020B0402040204020203" pitchFamily="34" charset="0"/>
              </a:rPr>
              <a:t>, which further improves the stability of the amplifier.</a:t>
            </a:r>
            <a:endParaRPr kumimoji="0" lang="en-US" altLang="en-US" sz="1400" b="0" i="0" u="none" strike="noStrike" cap="none" normalizeH="0" baseline="0" dirty="0">
              <a:ln>
                <a:noFill/>
              </a:ln>
              <a:solidFill>
                <a:schemeClr val="tx1"/>
              </a:solidFill>
              <a:effectLst/>
              <a:latin typeface="Nirmala Text Semilight" panose="020B0402040204020203" pitchFamily="34" charset="0"/>
              <a:ea typeface="Nirmala Text Semilight" panose="020B0402040204020203" pitchFamily="34" charset="0"/>
              <a:cs typeface="Nirmala Text Semilight" panose="020B0402040204020203" pitchFamily="34" charset="0"/>
            </a:endParaRPr>
          </a:p>
        </p:txBody>
      </p:sp>
    </p:spTree>
    <p:extLst>
      <p:ext uri="{BB962C8B-B14F-4D97-AF65-F5344CB8AC3E}">
        <p14:creationId xmlns:p14="http://schemas.microsoft.com/office/powerpoint/2010/main" val="851456137"/>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408642-0200-002E-6721-092C51317B29}"/>
              </a:ext>
            </a:extLst>
          </p:cNvPr>
          <p:cNvSpPr>
            <a:spLocks noGrp="1"/>
          </p:cNvSpPr>
          <p:nvPr>
            <p:ph type="title"/>
          </p:nvPr>
        </p:nvSpPr>
        <p:spPr>
          <a:xfrm>
            <a:off x="739553" y="385165"/>
            <a:ext cx="7444440" cy="433501"/>
          </a:xfrm>
        </p:spPr>
        <p:txBody>
          <a:bodyPr/>
          <a:lstStyle/>
          <a:p>
            <a:pPr marL="0" indent="0" algn="ctr">
              <a:buNone/>
            </a:pPr>
            <a:r>
              <a:rPr lang="en-US" sz="2000" b="1" u="sng" dirty="0">
                <a:latin typeface="Nirmala UI Semilight" panose="020B0402040204020203" pitchFamily="34" charset="0"/>
                <a:ea typeface="Nirmala UI Semilight" panose="020B0402040204020203" pitchFamily="34" charset="0"/>
                <a:cs typeface="Nirmala UI Semilight" panose="020B0402040204020203" pitchFamily="34" charset="0"/>
              </a:rPr>
              <a:t>Single Stage OTA</a:t>
            </a:r>
          </a:p>
        </p:txBody>
      </p:sp>
      <p:pic>
        <p:nvPicPr>
          <p:cNvPr id="9" name="Picture 8">
            <a:extLst>
              <a:ext uri="{FF2B5EF4-FFF2-40B4-BE49-F238E27FC236}">
                <a16:creationId xmlns:a16="http://schemas.microsoft.com/office/drawing/2014/main" id="{73496D24-1CDE-FE80-3C3C-D3CBA5DDB613}"/>
              </a:ext>
            </a:extLst>
          </p:cNvPr>
          <p:cNvPicPr>
            <a:picLocks noChangeAspect="1"/>
          </p:cNvPicPr>
          <p:nvPr/>
        </p:nvPicPr>
        <p:blipFill>
          <a:blip r:embed="rId2">
            <a:clrChange>
              <a:clrFrom>
                <a:srgbClr val="C0C0C0"/>
              </a:clrFrom>
              <a:clrTo>
                <a:srgbClr val="C0C0C0">
                  <a:alpha val="0"/>
                </a:srgbClr>
              </a:clrTo>
            </a:clrChange>
          </a:blip>
          <a:stretch>
            <a:fillRect/>
          </a:stretch>
        </p:blipFill>
        <p:spPr>
          <a:xfrm>
            <a:off x="621012" y="610899"/>
            <a:ext cx="4043858" cy="3939667"/>
          </a:xfrm>
          <a:prstGeom prst="rect">
            <a:avLst/>
          </a:prstGeom>
        </p:spPr>
      </p:pic>
      <p:pic>
        <p:nvPicPr>
          <p:cNvPr id="11" name="Picture 10">
            <a:extLst>
              <a:ext uri="{FF2B5EF4-FFF2-40B4-BE49-F238E27FC236}">
                <a16:creationId xmlns:a16="http://schemas.microsoft.com/office/drawing/2014/main" id="{C8DF41D6-FECC-1B26-CABB-DAC1627AA931}"/>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883423" y="782667"/>
            <a:ext cx="3226230" cy="3975668"/>
          </a:xfrm>
          <a:prstGeom prst="rect">
            <a:avLst/>
          </a:prstGeom>
        </p:spPr>
      </p:pic>
      <p:sp>
        <p:nvSpPr>
          <p:cNvPr id="13" name="TextBox 12">
            <a:extLst>
              <a:ext uri="{FF2B5EF4-FFF2-40B4-BE49-F238E27FC236}">
                <a16:creationId xmlns:a16="http://schemas.microsoft.com/office/drawing/2014/main" id="{195A099F-D536-F3C7-4941-9630CB18BC1C}"/>
              </a:ext>
            </a:extLst>
          </p:cNvPr>
          <p:cNvSpPr txBox="1"/>
          <p:nvPr/>
        </p:nvSpPr>
        <p:spPr>
          <a:xfrm>
            <a:off x="5392165" y="3100387"/>
            <a:ext cx="1836439" cy="707886"/>
          </a:xfrm>
          <a:prstGeom prst="rect">
            <a:avLst/>
          </a:prstGeom>
          <a:noFill/>
        </p:spPr>
        <p:txBody>
          <a:bodyPr wrap="square" rtlCol="0">
            <a:spAutoFit/>
          </a:bodyPr>
          <a:lstStyle/>
          <a:p>
            <a:r>
              <a:rPr lang="en-US" sz="1000" b="1" dirty="0">
                <a:latin typeface="Nirmala UI Semilight" panose="020B0402040204020203" pitchFamily="34" charset="0"/>
                <a:ea typeface="Nirmala UI Semilight" panose="020B0402040204020203" pitchFamily="34" charset="0"/>
                <a:cs typeface="Nirmala UI Semilight" panose="020B0402040204020203" pitchFamily="34" charset="0"/>
              </a:rPr>
              <a:t>DC gain </a:t>
            </a:r>
            <a:r>
              <a:rPr lang="en-US" sz="1000" dirty="0">
                <a:latin typeface="Nirmala UI Semilight" panose="020B0402040204020203" pitchFamily="34" charset="0"/>
                <a:ea typeface="Nirmala UI Semilight" panose="020B0402040204020203" pitchFamily="34" charset="0"/>
                <a:cs typeface="Nirmala UI Semilight" panose="020B0402040204020203" pitchFamily="34" charset="0"/>
              </a:rPr>
              <a:t>≈ 39.5dB</a:t>
            </a:r>
          </a:p>
          <a:p>
            <a:r>
              <a:rPr lang="en-US" sz="1000" b="1" dirty="0">
                <a:latin typeface="Nirmala UI Semilight" panose="020B0402040204020203" pitchFamily="34" charset="0"/>
                <a:ea typeface="Nirmala UI Semilight" panose="020B0402040204020203" pitchFamily="34" charset="0"/>
                <a:cs typeface="Nirmala UI Semilight" panose="020B0402040204020203" pitchFamily="34" charset="0"/>
              </a:rPr>
              <a:t>Pole</a:t>
            </a:r>
            <a:r>
              <a:rPr lang="en-US" sz="1000" dirty="0">
                <a:latin typeface="Nirmala UI Semilight" panose="020B0402040204020203" pitchFamily="34" charset="0"/>
                <a:ea typeface="Nirmala UI Semilight" panose="020B0402040204020203" pitchFamily="34" charset="0"/>
                <a:cs typeface="Nirmala UI Semilight" panose="020B0402040204020203" pitchFamily="34" charset="0"/>
              </a:rPr>
              <a:t> ≈ 135KHz</a:t>
            </a:r>
          </a:p>
          <a:p>
            <a:r>
              <a:rPr lang="en-US" sz="1000" b="1" dirty="0">
                <a:latin typeface="Nirmala UI Semilight" panose="020B0402040204020203" pitchFamily="34" charset="0"/>
                <a:ea typeface="Nirmala UI Semilight" panose="020B0402040204020203" pitchFamily="34" charset="0"/>
                <a:cs typeface="Nirmala UI Semilight" panose="020B0402040204020203" pitchFamily="34" charset="0"/>
              </a:rPr>
              <a:t>UGF</a:t>
            </a:r>
            <a:r>
              <a:rPr lang="en-US" sz="1000" dirty="0">
                <a:latin typeface="Nirmala UI Semilight" panose="020B0402040204020203" pitchFamily="34" charset="0"/>
                <a:ea typeface="Nirmala UI Semilight" panose="020B0402040204020203" pitchFamily="34" charset="0"/>
                <a:cs typeface="Nirmala UI Semilight" panose="020B0402040204020203" pitchFamily="34" charset="0"/>
              </a:rPr>
              <a:t> = 12.329MHz</a:t>
            </a:r>
          </a:p>
          <a:p>
            <a:r>
              <a:rPr lang="en-US" sz="1000" b="1" dirty="0">
                <a:latin typeface="Nirmala UI Semilight" panose="020B0402040204020203" pitchFamily="34" charset="0"/>
                <a:ea typeface="Nirmala UI Semilight" panose="020B0402040204020203" pitchFamily="34" charset="0"/>
                <a:cs typeface="Nirmala UI Semilight" panose="020B0402040204020203" pitchFamily="34" charset="0"/>
              </a:rPr>
              <a:t>PM</a:t>
            </a:r>
            <a:r>
              <a:rPr lang="en-US" sz="1000" dirty="0">
                <a:latin typeface="Nirmala UI Semilight" panose="020B0402040204020203" pitchFamily="34" charset="0"/>
                <a:ea typeface="Nirmala UI Semilight" panose="020B0402040204020203" pitchFamily="34" charset="0"/>
                <a:cs typeface="Nirmala UI Semilight" panose="020B0402040204020203" pitchFamily="34" charset="0"/>
              </a:rPr>
              <a:t> = 87.224°</a:t>
            </a:r>
          </a:p>
        </p:txBody>
      </p:sp>
    </p:spTree>
    <p:extLst>
      <p:ext uri="{BB962C8B-B14F-4D97-AF65-F5344CB8AC3E}">
        <p14:creationId xmlns:p14="http://schemas.microsoft.com/office/powerpoint/2010/main" val="654170044"/>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7621CCF-33F2-FBBA-00D5-3484E1527ACC}"/>
              </a:ext>
            </a:extLst>
          </p:cNvPr>
          <p:cNvSpPr txBox="1"/>
          <p:nvPr/>
        </p:nvSpPr>
        <p:spPr>
          <a:xfrm>
            <a:off x="700088" y="466478"/>
            <a:ext cx="7608093" cy="369332"/>
          </a:xfrm>
          <a:prstGeom prst="rect">
            <a:avLst/>
          </a:prstGeom>
          <a:noFill/>
        </p:spPr>
        <p:txBody>
          <a:bodyPr wrap="square" rtlCol="0">
            <a:spAutoFit/>
          </a:bodyPr>
          <a:lstStyle/>
          <a:p>
            <a:pPr algn="ctr"/>
            <a:r>
              <a:rPr lang="en-US" b="1" u="sng" dirty="0">
                <a:latin typeface="Nirmala UI Semilight" panose="020B0402040204020203" pitchFamily="34" charset="0"/>
                <a:ea typeface="Nirmala UI Semilight" panose="020B0402040204020203" pitchFamily="34" charset="0"/>
                <a:cs typeface="Nirmala UI Semilight" panose="020B0402040204020203" pitchFamily="34" charset="0"/>
              </a:rPr>
              <a:t>2 Stage OTA without compensation</a:t>
            </a:r>
          </a:p>
        </p:txBody>
      </p:sp>
      <p:pic>
        <p:nvPicPr>
          <p:cNvPr id="15" name="Picture 14">
            <a:extLst>
              <a:ext uri="{FF2B5EF4-FFF2-40B4-BE49-F238E27FC236}">
                <a16:creationId xmlns:a16="http://schemas.microsoft.com/office/drawing/2014/main" id="{DE2A86EF-5E3C-6F2C-B6DE-367D17A6D5A2}"/>
              </a:ext>
            </a:extLst>
          </p:cNvPr>
          <p:cNvPicPr>
            <a:picLocks noChangeAspect="1"/>
          </p:cNvPicPr>
          <p:nvPr/>
        </p:nvPicPr>
        <p:blipFill>
          <a:blip r:embed="rId2">
            <a:clrChange>
              <a:clrFrom>
                <a:srgbClr val="C0C0C0"/>
              </a:clrFrom>
              <a:clrTo>
                <a:srgbClr val="C0C0C0">
                  <a:alpha val="0"/>
                </a:srgbClr>
              </a:clrTo>
            </a:clrChange>
          </a:blip>
          <a:stretch>
            <a:fillRect/>
          </a:stretch>
        </p:blipFill>
        <p:spPr>
          <a:xfrm>
            <a:off x="513940" y="1053237"/>
            <a:ext cx="3951065" cy="3425894"/>
          </a:xfrm>
          <a:prstGeom prst="rect">
            <a:avLst/>
          </a:prstGeom>
        </p:spPr>
      </p:pic>
      <p:pic>
        <p:nvPicPr>
          <p:cNvPr id="23" name="Picture 22">
            <a:extLst>
              <a:ext uri="{FF2B5EF4-FFF2-40B4-BE49-F238E27FC236}">
                <a16:creationId xmlns:a16="http://schemas.microsoft.com/office/drawing/2014/main" id="{3F99CA4A-B73B-59AA-DB52-C61CB011DEBD}"/>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572000" y="809864"/>
            <a:ext cx="3974523" cy="3912640"/>
          </a:xfrm>
          <a:prstGeom prst="rect">
            <a:avLst/>
          </a:prstGeom>
        </p:spPr>
      </p:pic>
      <p:sp>
        <p:nvSpPr>
          <p:cNvPr id="24" name="TextBox 23">
            <a:extLst>
              <a:ext uri="{FF2B5EF4-FFF2-40B4-BE49-F238E27FC236}">
                <a16:creationId xmlns:a16="http://schemas.microsoft.com/office/drawing/2014/main" id="{20537BB0-AAE5-C26B-5259-769316FB74D8}"/>
              </a:ext>
            </a:extLst>
          </p:cNvPr>
          <p:cNvSpPr txBox="1"/>
          <p:nvPr/>
        </p:nvSpPr>
        <p:spPr>
          <a:xfrm>
            <a:off x="5072063" y="3114675"/>
            <a:ext cx="1585912" cy="984885"/>
          </a:xfrm>
          <a:prstGeom prst="rect">
            <a:avLst/>
          </a:prstGeom>
          <a:noFill/>
        </p:spPr>
        <p:txBody>
          <a:bodyPr wrap="square" rtlCol="0">
            <a:spAutoFit/>
          </a:bodyPr>
          <a:lstStyle/>
          <a:p>
            <a:r>
              <a:rPr lang="en-US" sz="1000" b="1" dirty="0">
                <a:latin typeface="Nirmala UI Semilight" panose="020B0402040204020203" pitchFamily="34" charset="0"/>
                <a:ea typeface="Nirmala UI Semilight" panose="020B0402040204020203" pitchFamily="34" charset="0"/>
                <a:cs typeface="Nirmala UI Semilight" panose="020B0402040204020203" pitchFamily="34" charset="0"/>
              </a:rPr>
              <a:t>DC gain </a:t>
            </a:r>
            <a:r>
              <a:rPr lang="en-US" sz="1000" dirty="0">
                <a:latin typeface="Nirmala UI Semilight" panose="020B0402040204020203" pitchFamily="34" charset="0"/>
                <a:ea typeface="Nirmala UI Semilight" panose="020B0402040204020203" pitchFamily="34" charset="0"/>
                <a:cs typeface="Nirmala UI Semilight" panose="020B0402040204020203" pitchFamily="34" charset="0"/>
              </a:rPr>
              <a:t>≈ 78dB</a:t>
            </a:r>
          </a:p>
          <a:p>
            <a:r>
              <a:rPr lang="en-US" sz="1000" b="1" dirty="0">
                <a:latin typeface="Nirmala UI Semilight" panose="020B0402040204020203" pitchFamily="34" charset="0"/>
                <a:ea typeface="Nirmala UI Semilight" panose="020B0402040204020203" pitchFamily="34" charset="0"/>
                <a:cs typeface="Nirmala UI Semilight" panose="020B0402040204020203" pitchFamily="34" charset="0"/>
              </a:rPr>
              <a:t>Poles</a:t>
            </a:r>
            <a:r>
              <a:rPr lang="en-US" sz="1000" dirty="0">
                <a:latin typeface="Nirmala UI Semilight" panose="020B0402040204020203" pitchFamily="34" charset="0"/>
                <a:ea typeface="Nirmala UI Semilight" panose="020B0402040204020203" pitchFamily="34" charset="0"/>
                <a:cs typeface="Nirmala UI Semilight" panose="020B0402040204020203" pitchFamily="34" charset="0"/>
              </a:rPr>
              <a:t> ≈ 10KHz,3MHz</a:t>
            </a:r>
          </a:p>
          <a:p>
            <a:r>
              <a:rPr lang="en-US" sz="1000" b="1" dirty="0">
                <a:latin typeface="Nirmala UI Semilight" panose="020B0402040204020203" pitchFamily="34" charset="0"/>
                <a:ea typeface="Nirmala UI Semilight" panose="020B0402040204020203" pitchFamily="34" charset="0"/>
                <a:cs typeface="Nirmala UI Semilight" panose="020B0402040204020203" pitchFamily="34" charset="0"/>
              </a:rPr>
              <a:t>UGF</a:t>
            </a:r>
            <a:r>
              <a:rPr lang="en-US" sz="1000" dirty="0">
                <a:latin typeface="Nirmala UI Semilight" panose="020B0402040204020203" pitchFamily="34" charset="0"/>
                <a:ea typeface="Nirmala UI Semilight" panose="020B0402040204020203" pitchFamily="34" charset="0"/>
                <a:cs typeface="Nirmala UI Semilight" panose="020B0402040204020203" pitchFamily="34" charset="0"/>
              </a:rPr>
              <a:t> =54MHz</a:t>
            </a:r>
          </a:p>
          <a:p>
            <a:r>
              <a:rPr lang="en-US" sz="1000" b="1" dirty="0">
                <a:latin typeface="Nirmala UI Semilight" panose="020B0402040204020203" pitchFamily="34" charset="0"/>
                <a:ea typeface="Nirmala UI Semilight" panose="020B0402040204020203" pitchFamily="34" charset="0"/>
                <a:cs typeface="Nirmala UI Semilight" panose="020B0402040204020203" pitchFamily="34" charset="0"/>
              </a:rPr>
              <a:t>PM</a:t>
            </a:r>
            <a:r>
              <a:rPr lang="en-US" sz="1000" dirty="0">
                <a:latin typeface="Nirmala UI Semilight" panose="020B0402040204020203" pitchFamily="34" charset="0"/>
                <a:ea typeface="Nirmala UI Semilight" panose="020B0402040204020203" pitchFamily="34" charset="0"/>
                <a:cs typeface="Nirmala UI Semilight" panose="020B0402040204020203" pitchFamily="34" charset="0"/>
              </a:rPr>
              <a:t>=  -21 °</a:t>
            </a:r>
          </a:p>
          <a:p>
            <a:endParaRPr lang="en-US" dirty="0"/>
          </a:p>
        </p:txBody>
      </p:sp>
    </p:spTree>
    <p:extLst>
      <p:ext uri="{BB962C8B-B14F-4D97-AF65-F5344CB8AC3E}">
        <p14:creationId xmlns:p14="http://schemas.microsoft.com/office/powerpoint/2010/main" val="1564915980"/>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9880B3B-1383-E2E8-517F-311C08F3DA10}"/>
              </a:ext>
            </a:extLst>
          </p:cNvPr>
          <p:cNvSpPr>
            <a:spLocks noGrp="1"/>
          </p:cNvSpPr>
          <p:nvPr>
            <p:ph type="title"/>
          </p:nvPr>
        </p:nvSpPr>
        <p:spPr>
          <a:xfrm>
            <a:off x="849780" y="438480"/>
            <a:ext cx="7444440" cy="646200"/>
          </a:xfrm>
        </p:spPr>
        <p:txBody>
          <a:bodyPr/>
          <a:lstStyle/>
          <a:p>
            <a:pPr marL="0" indent="0" algn="ctr">
              <a:buNone/>
            </a:pPr>
            <a:r>
              <a:rPr lang="en-US" sz="1800" b="1" u="sng" dirty="0">
                <a:latin typeface="Nirmala UI Semilight" panose="020B0402040204020203" pitchFamily="34" charset="0"/>
                <a:ea typeface="Nirmala UI Semilight" panose="020B0402040204020203" pitchFamily="34" charset="0"/>
                <a:cs typeface="Nirmala UI Semilight" panose="020B0402040204020203" pitchFamily="34" charset="0"/>
              </a:rPr>
              <a:t>2 Stage OTA With compensation</a:t>
            </a:r>
          </a:p>
        </p:txBody>
      </p:sp>
      <p:pic>
        <p:nvPicPr>
          <p:cNvPr id="5" name="Picture 4">
            <a:extLst>
              <a:ext uri="{FF2B5EF4-FFF2-40B4-BE49-F238E27FC236}">
                <a16:creationId xmlns:a16="http://schemas.microsoft.com/office/drawing/2014/main" id="{A010B8FD-0061-AEAC-8BE0-387A14042C88}"/>
              </a:ext>
            </a:extLst>
          </p:cNvPr>
          <p:cNvPicPr>
            <a:picLocks noChangeAspect="1"/>
          </p:cNvPicPr>
          <p:nvPr/>
        </p:nvPicPr>
        <p:blipFill>
          <a:blip r:embed="rId2">
            <a:clrChange>
              <a:clrFrom>
                <a:srgbClr val="C0C0C0"/>
              </a:clrFrom>
              <a:clrTo>
                <a:srgbClr val="C0C0C0">
                  <a:alpha val="0"/>
                </a:srgbClr>
              </a:clrTo>
            </a:clrChange>
          </a:blip>
          <a:srcRect t="5772"/>
          <a:stretch>
            <a:fillRect/>
          </a:stretch>
        </p:blipFill>
        <p:spPr>
          <a:xfrm>
            <a:off x="490606" y="912275"/>
            <a:ext cx="4081394" cy="3716875"/>
          </a:xfrm>
          <a:prstGeom prst="rect">
            <a:avLst/>
          </a:prstGeom>
        </p:spPr>
      </p:pic>
      <p:pic>
        <p:nvPicPr>
          <p:cNvPr id="9" name="Picture 8">
            <a:extLst>
              <a:ext uri="{FF2B5EF4-FFF2-40B4-BE49-F238E27FC236}">
                <a16:creationId xmlns:a16="http://schemas.microsoft.com/office/drawing/2014/main" id="{7C9DF55F-94E1-71F0-06AB-6951439BBEB9}"/>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842655" y="824153"/>
            <a:ext cx="3751275" cy="3903900"/>
          </a:xfrm>
          <a:prstGeom prst="rect">
            <a:avLst/>
          </a:prstGeom>
        </p:spPr>
      </p:pic>
      <p:sp>
        <p:nvSpPr>
          <p:cNvPr id="10" name="TextBox 9">
            <a:extLst>
              <a:ext uri="{FF2B5EF4-FFF2-40B4-BE49-F238E27FC236}">
                <a16:creationId xmlns:a16="http://schemas.microsoft.com/office/drawing/2014/main" id="{1DE6F440-6ABB-9FB2-8F74-B6C3930FB5DD}"/>
              </a:ext>
            </a:extLst>
          </p:cNvPr>
          <p:cNvSpPr txBox="1"/>
          <p:nvPr/>
        </p:nvSpPr>
        <p:spPr>
          <a:xfrm>
            <a:off x="5414963" y="3300412"/>
            <a:ext cx="1443037" cy="861774"/>
          </a:xfrm>
          <a:prstGeom prst="rect">
            <a:avLst/>
          </a:prstGeom>
          <a:noFill/>
        </p:spPr>
        <p:txBody>
          <a:bodyPr wrap="square" rtlCol="0">
            <a:spAutoFit/>
          </a:bodyPr>
          <a:lstStyle/>
          <a:p>
            <a:r>
              <a:rPr lang="en-US" sz="1000" b="1" dirty="0">
                <a:latin typeface="Nirmala UI Semilight" panose="020B0402040204020203" pitchFamily="34" charset="0"/>
                <a:ea typeface="Nirmala UI Semilight" panose="020B0402040204020203" pitchFamily="34" charset="0"/>
                <a:cs typeface="Nirmala UI Semilight" panose="020B0402040204020203" pitchFamily="34" charset="0"/>
              </a:rPr>
              <a:t>DC gain </a:t>
            </a:r>
            <a:r>
              <a:rPr lang="en-US" sz="1000" dirty="0">
                <a:latin typeface="Nirmala UI Semilight" panose="020B0402040204020203" pitchFamily="34" charset="0"/>
                <a:ea typeface="Nirmala UI Semilight" panose="020B0402040204020203" pitchFamily="34" charset="0"/>
                <a:cs typeface="Nirmala UI Semilight" panose="020B0402040204020203" pitchFamily="34" charset="0"/>
              </a:rPr>
              <a:t>≈ 78dB</a:t>
            </a:r>
          </a:p>
          <a:p>
            <a:r>
              <a:rPr lang="en-US" sz="1000" b="1" dirty="0">
                <a:latin typeface="Nirmala UI Semilight" panose="020B0402040204020203" pitchFamily="34" charset="0"/>
                <a:ea typeface="Nirmala UI Semilight" panose="020B0402040204020203" pitchFamily="34" charset="0"/>
                <a:cs typeface="Nirmala UI Semilight" panose="020B0402040204020203" pitchFamily="34" charset="0"/>
              </a:rPr>
              <a:t>Poles</a:t>
            </a:r>
            <a:r>
              <a:rPr lang="en-US" sz="1000" dirty="0">
                <a:latin typeface="Nirmala UI Semilight" panose="020B0402040204020203" pitchFamily="34" charset="0"/>
                <a:ea typeface="Nirmala UI Semilight" panose="020B0402040204020203" pitchFamily="34" charset="0"/>
                <a:cs typeface="Nirmala UI Semilight" panose="020B0402040204020203" pitchFamily="34" charset="0"/>
              </a:rPr>
              <a:t> ≈ 1KHz,8.8MHz</a:t>
            </a:r>
          </a:p>
          <a:p>
            <a:r>
              <a:rPr lang="en-US" sz="1000" b="1" dirty="0">
                <a:latin typeface="Nirmala UI Semilight" panose="020B0402040204020203" pitchFamily="34" charset="0"/>
                <a:ea typeface="Nirmala UI Semilight" panose="020B0402040204020203" pitchFamily="34" charset="0"/>
                <a:cs typeface="Nirmala UI Semilight" panose="020B0402040204020203" pitchFamily="34" charset="0"/>
              </a:rPr>
              <a:t>UGF</a:t>
            </a:r>
            <a:r>
              <a:rPr lang="en-US" sz="1000" dirty="0">
                <a:latin typeface="Nirmala UI Semilight" panose="020B0402040204020203" pitchFamily="34" charset="0"/>
                <a:ea typeface="Nirmala UI Semilight" panose="020B0402040204020203" pitchFamily="34" charset="0"/>
                <a:cs typeface="Nirmala UI Semilight" panose="020B0402040204020203" pitchFamily="34" charset="0"/>
              </a:rPr>
              <a:t> = 21.581</a:t>
            </a:r>
          </a:p>
          <a:p>
            <a:r>
              <a:rPr lang="en-US" sz="1000" b="1" dirty="0">
                <a:latin typeface="Nirmala UI Semilight" panose="020B0402040204020203" pitchFamily="34" charset="0"/>
                <a:ea typeface="Nirmala UI Semilight" panose="020B0402040204020203" pitchFamily="34" charset="0"/>
                <a:cs typeface="Nirmala UI Semilight" panose="020B0402040204020203" pitchFamily="34" charset="0"/>
              </a:rPr>
              <a:t>PM</a:t>
            </a:r>
            <a:r>
              <a:rPr lang="en-US" sz="1000" dirty="0">
                <a:latin typeface="Nirmala UI Semilight" panose="020B0402040204020203" pitchFamily="34" charset="0"/>
                <a:ea typeface="Nirmala UI Semilight" panose="020B0402040204020203" pitchFamily="34" charset="0"/>
                <a:cs typeface="Nirmala UI Semilight" panose="020B0402040204020203" pitchFamily="34" charset="0"/>
              </a:rPr>
              <a:t> = 61.128°</a:t>
            </a:r>
          </a:p>
          <a:p>
            <a:endParaRPr lang="en-US" sz="1000" dirty="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Tree>
    <p:extLst>
      <p:ext uri="{BB962C8B-B14F-4D97-AF65-F5344CB8AC3E}">
        <p14:creationId xmlns:p14="http://schemas.microsoft.com/office/powerpoint/2010/main" val="924087207"/>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4A696A6-6263-0C20-0622-5C915A85EFF0}"/>
              </a:ext>
            </a:extLst>
          </p:cNvPr>
          <p:cNvSpPr>
            <a:spLocks noGrp="1"/>
          </p:cNvSpPr>
          <p:nvPr>
            <p:ph type="body"/>
          </p:nvPr>
        </p:nvSpPr>
        <p:spPr>
          <a:xfrm>
            <a:off x="546421" y="1389480"/>
            <a:ext cx="7589880" cy="3486960"/>
          </a:xfrm>
        </p:spPr>
        <p:txBody>
          <a:bodyPr/>
          <a:lstStyle/>
          <a:p>
            <a:r>
              <a:rPr lang="en-US" sz="1400" b="1" dirty="0">
                <a:latin typeface="Nirmala Text Semilight" panose="020B0402040204020203" pitchFamily="34" charset="0"/>
                <a:ea typeface="Nirmala Text Semilight" panose="020B0402040204020203" pitchFamily="34" charset="0"/>
                <a:cs typeface="Nirmala Text Semilight" panose="020B0402040204020203" pitchFamily="34" charset="0"/>
              </a:rPr>
              <a:t>Gain Enhancement using </a:t>
            </a:r>
            <a:r>
              <a:rPr lang="en-US" sz="1400" b="1" dirty="0" err="1">
                <a:latin typeface="Nirmala Text Semilight" panose="020B0402040204020203" pitchFamily="34" charset="0"/>
                <a:ea typeface="Nirmala Text Semilight" panose="020B0402040204020203" pitchFamily="34" charset="0"/>
                <a:cs typeface="Nirmala Text Semilight" panose="020B0402040204020203" pitchFamily="34" charset="0"/>
              </a:rPr>
              <a:t>Cascoding</a:t>
            </a:r>
            <a:br>
              <a:rPr lang="en-US" sz="1400" dirty="0">
                <a:latin typeface="Nirmala Text Semilight" panose="020B0402040204020203" pitchFamily="34" charset="0"/>
                <a:ea typeface="Nirmala Text Semilight" panose="020B0402040204020203" pitchFamily="34" charset="0"/>
                <a:cs typeface="Nirmala Text Semilight" panose="020B0402040204020203" pitchFamily="34" charset="0"/>
              </a:rPr>
            </a:br>
            <a:r>
              <a:rPr lang="en-US" sz="1400" dirty="0">
                <a:latin typeface="Nirmala Text Semilight" panose="020B0402040204020203" pitchFamily="34" charset="0"/>
                <a:ea typeface="Nirmala Text Semilight" panose="020B0402040204020203" pitchFamily="34" charset="0"/>
                <a:cs typeface="Nirmala Text Semilight" panose="020B0402040204020203" pitchFamily="34" charset="0"/>
              </a:rPr>
              <a:t>The voltage gain of the OTA can be further increased by incorporating </a:t>
            </a:r>
            <a:r>
              <a:rPr lang="en-US" sz="1400" dirty="0" err="1">
                <a:latin typeface="Nirmala Text Semilight" panose="020B0402040204020203" pitchFamily="34" charset="0"/>
                <a:ea typeface="Nirmala Text Semilight" panose="020B0402040204020203" pitchFamily="34" charset="0"/>
                <a:cs typeface="Nirmala Text Semilight" panose="020B0402040204020203" pitchFamily="34" charset="0"/>
              </a:rPr>
              <a:t>cascode</a:t>
            </a:r>
            <a:r>
              <a:rPr lang="en-US" sz="1400" dirty="0">
                <a:latin typeface="Nirmala Text Semilight" panose="020B0402040204020203" pitchFamily="34" charset="0"/>
                <a:ea typeface="Nirmala Text Semilight" panose="020B0402040204020203" pitchFamily="34" charset="0"/>
                <a:cs typeface="Nirmala Text Semilight" panose="020B0402040204020203" pitchFamily="34" charset="0"/>
              </a:rPr>
              <a:t> structures, which increase the output resistance of the amplifier.</a:t>
            </a:r>
          </a:p>
          <a:p>
            <a:r>
              <a:rPr lang="en-US" sz="1400" b="1" dirty="0">
                <a:latin typeface="Nirmala Text Semilight" panose="020B0402040204020203" pitchFamily="34" charset="0"/>
                <a:ea typeface="Nirmala Text Semilight" panose="020B0402040204020203" pitchFamily="34" charset="0"/>
                <a:cs typeface="Nirmala Text Semilight" panose="020B0402040204020203" pitchFamily="34" charset="0"/>
              </a:rPr>
              <a:t>Fully Differential Design</a:t>
            </a:r>
            <a:br>
              <a:rPr lang="en-US" sz="1400" dirty="0">
                <a:latin typeface="Nirmala Text Semilight" panose="020B0402040204020203" pitchFamily="34" charset="0"/>
                <a:ea typeface="Nirmala Text Semilight" panose="020B0402040204020203" pitchFamily="34" charset="0"/>
                <a:cs typeface="Nirmala Text Semilight" panose="020B0402040204020203" pitchFamily="34" charset="0"/>
              </a:rPr>
            </a:br>
            <a:r>
              <a:rPr lang="en-US" sz="1400" dirty="0">
                <a:latin typeface="Nirmala Text Semilight" panose="020B0402040204020203" pitchFamily="34" charset="0"/>
                <a:ea typeface="Nirmala Text Semilight" panose="020B0402040204020203" pitchFamily="34" charset="0"/>
                <a:cs typeface="Nirmala Text Semilight" panose="020B0402040204020203" pitchFamily="34" charset="0"/>
              </a:rPr>
              <a:t>The OTA can be extended to a fully differential architecture for improved performance.</a:t>
            </a:r>
          </a:p>
          <a:p>
            <a:r>
              <a:rPr lang="en-US" sz="1400" b="1" dirty="0">
                <a:latin typeface="Nirmala Text Semilight" panose="020B0402040204020203" pitchFamily="34" charset="0"/>
                <a:ea typeface="Nirmala Text Semilight" panose="020B0402040204020203" pitchFamily="34" charset="0"/>
                <a:cs typeface="Nirmala Text Semilight" panose="020B0402040204020203" pitchFamily="34" charset="0"/>
              </a:rPr>
              <a:t>Power Optimization</a:t>
            </a:r>
            <a:br>
              <a:rPr lang="en-US" sz="1400" dirty="0">
                <a:latin typeface="Nirmala Text Semilight" panose="020B0402040204020203" pitchFamily="34" charset="0"/>
                <a:ea typeface="Nirmala Text Semilight" panose="020B0402040204020203" pitchFamily="34" charset="0"/>
                <a:cs typeface="Nirmala Text Semilight" panose="020B0402040204020203" pitchFamily="34" charset="0"/>
              </a:rPr>
            </a:br>
            <a:r>
              <a:rPr lang="en-US" sz="1400" dirty="0">
                <a:latin typeface="Nirmala Text Semilight" panose="020B0402040204020203" pitchFamily="34" charset="0"/>
                <a:ea typeface="Nirmala Text Semilight" panose="020B0402040204020203" pitchFamily="34" charset="0"/>
                <a:cs typeface="Nirmala Text Semilight" panose="020B0402040204020203" pitchFamily="34" charset="0"/>
              </a:rPr>
              <a:t>Power consumption can be reduced by optimizing bias currents and transistor sizing.</a:t>
            </a:r>
          </a:p>
          <a:p>
            <a:r>
              <a:rPr lang="en-US" sz="1400" b="1" dirty="0">
                <a:latin typeface="Nirmala Text Semilight" panose="020B0402040204020203" pitchFamily="34" charset="0"/>
                <a:ea typeface="Nirmala Text Semilight" panose="020B0402040204020203" pitchFamily="34" charset="0"/>
                <a:cs typeface="Nirmala Text Semilight" panose="020B0402040204020203" pitchFamily="34" charset="0"/>
              </a:rPr>
              <a:t>Alternative Compensation Techniques</a:t>
            </a:r>
            <a:br>
              <a:rPr lang="en-US" sz="1400" dirty="0">
                <a:latin typeface="Nirmala Text Semilight" panose="020B0402040204020203" pitchFamily="34" charset="0"/>
                <a:ea typeface="Nirmala Text Semilight" panose="020B0402040204020203" pitchFamily="34" charset="0"/>
                <a:cs typeface="Nirmala Text Semilight" panose="020B0402040204020203" pitchFamily="34" charset="0"/>
              </a:rPr>
            </a:br>
            <a:r>
              <a:rPr lang="en-US" sz="1400" dirty="0">
                <a:latin typeface="Nirmala Text Semilight" panose="020B0402040204020203" pitchFamily="34" charset="0"/>
                <a:ea typeface="Nirmala Text Semilight" panose="020B0402040204020203" pitchFamily="34" charset="0"/>
                <a:cs typeface="Nirmala Text Semilight" panose="020B0402040204020203" pitchFamily="34" charset="0"/>
              </a:rPr>
              <a:t>Other compensation methods such as feedforward compensation, or nested Miller compensation can be explored to further improve the stability and bandwidth of the OTA.</a:t>
            </a:r>
          </a:p>
          <a:p>
            <a:endParaRPr lang="en-US" sz="1400" dirty="0">
              <a:latin typeface="Nirmala Text Semilight" panose="020B0402040204020203" pitchFamily="34" charset="0"/>
              <a:ea typeface="Nirmala Text Semilight" panose="020B0402040204020203" pitchFamily="34" charset="0"/>
              <a:cs typeface="Nirmala Text Semilight" panose="020B0402040204020203" pitchFamily="34" charset="0"/>
            </a:endParaRPr>
          </a:p>
        </p:txBody>
      </p:sp>
      <p:sp>
        <p:nvSpPr>
          <p:cNvPr id="3" name="Title 2">
            <a:extLst>
              <a:ext uri="{FF2B5EF4-FFF2-40B4-BE49-F238E27FC236}">
                <a16:creationId xmlns:a16="http://schemas.microsoft.com/office/drawing/2014/main" id="{42E29E00-056F-4D1F-27B6-B1D282BEB1D7}"/>
              </a:ext>
            </a:extLst>
          </p:cNvPr>
          <p:cNvSpPr>
            <a:spLocks noGrp="1"/>
          </p:cNvSpPr>
          <p:nvPr>
            <p:ph type="title"/>
          </p:nvPr>
        </p:nvSpPr>
        <p:spPr>
          <a:xfrm>
            <a:off x="619141" y="743280"/>
            <a:ext cx="7444440" cy="646200"/>
          </a:xfrm>
        </p:spPr>
        <p:txBody>
          <a:bodyPr/>
          <a:lstStyle/>
          <a:p>
            <a:r>
              <a:rPr lang="en-US" sz="2800" b="1" dirty="0">
                <a:latin typeface="Bahnschrift Light" panose="020B0502040204020203" pitchFamily="34" charset="0"/>
              </a:rPr>
              <a:t>Future Scope</a:t>
            </a:r>
            <a:br>
              <a:rPr lang="en-US" b="1" dirty="0"/>
            </a:br>
            <a:endParaRPr lang="en-US" dirty="0"/>
          </a:p>
        </p:txBody>
      </p:sp>
    </p:spTree>
    <p:extLst>
      <p:ext uri="{BB962C8B-B14F-4D97-AF65-F5344CB8AC3E}">
        <p14:creationId xmlns:p14="http://schemas.microsoft.com/office/powerpoint/2010/main" val="1073578890"/>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712BE7-FF2C-11A2-74AA-9268C2D1B070}"/>
              </a:ext>
            </a:extLst>
          </p:cNvPr>
          <p:cNvSpPr>
            <a:spLocks noGrp="1"/>
          </p:cNvSpPr>
          <p:nvPr>
            <p:ph type="title"/>
          </p:nvPr>
        </p:nvSpPr>
        <p:spPr>
          <a:xfrm>
            <a:off x="2736185" y="2039153"/>
            <a:ext cx="4185979" cy="1379520"/>
          </a:xfrm>
        </p:spPr>
        <p:txBody>
          <a:bodyPr/>
          <a:lstStyle/>
          <a:p>
            <a:r>
              <a:rPr lang="en-US" dirty="0"/>
              <a:t>Thank You :)</a:t>
            </a:r>
          </a:p>
        </p:txBody>
      </p:sp>
    </p:spTree>
    <p:extLst>
      <p:ext uri="{BB962C8B-B14F-4D97-AF65-F5344CB8AC3E}">
        <p14:creationId xmlns:p14="http://schemas.microsoft.com/office/powerpoint/2010/main" val="1959310200"/>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theme/theme1.xml><?xml version="1.0" encoding="utf-8"?>
<a:theme xmlns:a="http://schemas.openxmlformats.org/drawingml/2006/main" name="Scope of Work by Slidesgo">
  <a:themeElements>
    <a:clrScheme name="Simple Light">
      <a:dk1>
        <a:srgbClr val="000000"/>
      </a:dk1>
      <a:lt1>
        <a:srgbClr val="FFFFFF"/>
      </a:lt1>
      <a:dk2>
        <a:srgbClr val="F0F6FF"/>
      </a:dk2>
      <a:lt2>
        <a:srgbClr val="B2D8F8"/>
      </a:lt2>
      <a:accent1>
        <a:srgbClr val="B2D8F8"/>
      </a:accent1>
      <a:accent2>
        <a:srgbClr val="B2D8F8"/>
      </a:accent2>
      <a:accent3>
        <a:srgbClr val="B2D8F8"/>
      </a:accent3>
      <a:accent4>
        <a:srgbClr val="B2D8F8"/>
      </a:accent4>
      <a:accent5>
        <a:srgbClr val="FFFFFF"/>
      </a:accent5>
      <a:accent6>
        <a:srgbClr val="FFFFFF"/>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cope of Work by Slidesgo">
  <a:themeElements>
    <a:clrScheme name="Simple Light">
      <a:dk1>
        <a:srgbClr val="000000"/>
      </a:dk1>
      <a:lt1>
        <a:srgbClr val="FFFFFF"/>
      </a:lt1>
      <a:dk2>
        <a:srgbClr val="F0F6FF"/>
      </a:dk2>
      <a:lt2>
        <a:srgbClr val="B2D8F8"/>
      </a:lt2>
      <a:accent1>
        <a:srgbClr val="B2D8F8"/>
      </a:accent1>
      <a:accent2>
        <a:srgbClr val="B2D8F8"/>
      </a:accent2>
      <a:accent3>
        <a:srgbClr val="B2D8F8"/>
      </a:accent3>
      <a:accent4>
        <a:srgbClr val="B2D8F8"/>
      </a:accent4>
      <a:accent5>
        <a:srgbClr val="FFFFFF"/>
      </a:accent5>
      <a:accent6>
        <a:srgbClr val="FFFFFF"/>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671</TotalTime>
  <Words>775</Words>
  <Application>Microsoft Office PowerPoint</Application>
  <PresentationFormat>On-screen Show (16:9)</PresentationFormat>
  <Paragraphs>115</Paragraphs>
  <Slides>15</Slides>
  <Notes>2</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15</vt:i4>
      </vt:variant>
    </vt:vector>
  </HeadingPairs>
  <TitlesOfParts>
    <vt:vector size="29" baseType="lpstr">
      <vt:lpstr>Arapey</vt:lpstr>
      <vt:lpstr>Arial</vt:lpstr>
      <vt:lpstr>Bahnschrift Light</vt:lpstr>
      <vt:lpstr>Book Antiqua</vt:lpstr>
      <vt:lpstr>Calibri</vt:lpstr>
      <vt:lpstr>Nirmala Text Semilight</vt:lpstr>
      <vt:lpstr>Nirmala UI Semilight</vt:lpstr>
      <vt:lpstr>OpenSymbol</vt:lpstr>
      <vt:lpstr>Red Hat Display</vt:lpstr>
      <vt:lpstr>Symbol</vt:lpstr>
      <vt:lpstr>Wingdings</vt:lpstr>
      <vt:lpstr>Scope of Work by Slidesgo</vt:lpstr>
      <vt:lpstr>Scope of Work by Slidesgo</vt:lpstr>
      <vt:lpstr>Slidesgo Final Pages</vt:lpstr>
      <vt:lpstr>2 Stage Miller Compensated OTA</vt:lpstr>
      <vt:lpstr>PowerPoint Presentation</vt:lpstr>
      <vt:lpstr>Introduction</vt:lpstr>
      <vt:lpstr>PowerPoint Presentation</vt:lpstr>
      <vt:lpstr>PowerPoint Presentation</vt:lpstr>
      <vt:lpstr>PowerPoint Presentation</vt:lpstr>
      <vt:lpstr>OTA Design Specifications</vt:lpstr>
      <vt:lpstr>Final Circuit </vt:lpstr>
      <vt:lpstr>Simulation Results</vt:lpstr>
      <vt:lpstr>Design Progression of the OTA </vt:lpstr>
      <vt:lpstr>Single Stage OTA</vt:lpstr>
      <vt:lpstr>PowerPoint Presentation</vt:lpstr>
      <vt:lpstr>2 Stage OTA With compensation</vt:lpstr>
      <vt:lpstr>Future Scope </vt:lpstr>
      <vt:lpstr>Thank You :)</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 C Sai Easwar</dc:creator>
  <cp:lastModifiedBy>S C Sai Easwar</cp:lastModifiedBy>
  <cp:revision>8</cp:revision>
  <dcterms:modified xsi:type="dcterms:W3CDTF">2026-04-07T17:09:33Z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2026-04-07T05:56:12Z</dcterms:created>
  <dc:creator>Unknown Creator</dc:creator>
  <dc:description/>
  <dc:language>en-US</dc:language>
  <cp:lastModifiedBy>Unknown Creator</cp:lastModifiedBy>
  <dcterms:modified xsi:type="dcterms:W3CDTF">2026-04-07T05:56:12Z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20</vt:r8>
  </property>
</Properties>
</file>